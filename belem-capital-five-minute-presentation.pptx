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1675"/>
  <p:notesSz cx="6858000" cy="9144000"/>
  <p:embeddedFontLst>
    <p:embeddedFont>
      <p:font typeface="Quattrocento Sans"/>
      <p:regular r:id="rId16"/>
      <p:bold r:id="rId17"/>
      <p:italic r:id="rId18"/>
      <p:boldItalic r:id="rId19"/>
    </p:embeddedFont>
    <p:embeddedFont>
      <p:font typeface="Oswal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kzwOR0UTmtCx/kEByDxMc2xJ8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regular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Oswald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QuattrocentoSans-bold.fntdata"/><Relationship Id="rId16" Type="http://schemas.openxmlformats.org/officeDocument/2006/relationships/font" Target="fonts/QuattrocentoSans-regular.fntdata"/><Relationship Id="rId5" Type="http://schemas.openxmlformats.org/officeDocument/2006/relationships/slide" Target="slides/slide1.xml"/><Relationship Id="rId19" Type="http://schemas.openxmlformats.org/officeDocument/2006/relationships/font" Target="fonts/QuattrocentoSans-boldItalic.fntdata"/><Relationship Id="rId6" Type="http://schemas.openxmlformats.org/officeDocument/2006/relationships/slide" Target="slides/slide2.xml"/><Relationship Id="rId18" Type="http://schemas.openxmlformats.org/officeDocument/2006/relationships/font" Target="fonts/Quattrocento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Slide 1: Opening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Time budget: 20 seconds.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SAY: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Take Bloomberg, but make it more efficient and remove a syllable. Boom. Doomberg.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Our question is practical: when a dependency threatens a DeFi position, is leaving worth the cost? We built a working prototype that makes that comparison inspectable.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Delivery: advance after the final sentence. Do not read every item on screen.</a:t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Slide 2: Dependency problem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Time budget: 20 seconds.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SAY: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pendle position has dependencies. Each of the dependencies can fail. From one </a:t>
            </a:r>
            <a:r>
              <a:rPr lang="en-US"/>
              <a:t>address</a:t>
            </a:r>
            <a:r>
              <a:rPr lang="en-US"/>
              <a:t> our system finds the dependencies. Prices what each failure would cost. And says whether leaving is worth it. Every link from our system shows its evidence.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Delivery: advance after the final sentence. Do not read every item on screen.</a:t>
            </a:r>
            <a:endParaRPr/>
          </a:p>
        </p:txBody>
      </p:sp>
      <p:sp>
        <p:nvSpPr>
          <p:cNvPr id="100" name="Google Shape;10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Slide 3: Workflow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Time budget: 25 seconds.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SAY: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workflow has five steps: discover dependencies, estimate failure probability, simulate the damage, price the exit, and compare the outcomes.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For example, a two percent chance of a forty percent loss gives point-eight percent expected loss. With full withdrawal and point-four percent exit cost, the selected scenario favors EXIT.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Delivery: advance after the final sentence. Do not read every item on screen.</a:t>
            </a:r>
            <a:endParaRPr/>
          </a:p>
        </p:txBody>
      </p:sp>
      <p:sp>
        <p:nvSpPr>
          <p:cNvPr id="141" name="Google Shape;14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Slide 4: Lender and borrower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Time budget: 25 seconds.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SAY: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We measure consequences differently for lenders and borrowers.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Lenders face uncovered debt when collateral and liquidation fail to protect repayment. Borrowers face leveraged equity losses and their own liquidation.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exit constraints differ too: available market cash for lenders, and sale liquidity plus debt repayment for borrowers. The same warning can therefore produce different decisions.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Delivery: advance after the final sentence. Do not read every item on screen.</a:t>
            </a:r>
            <a:endParaRPr/>
          </a:p>
        </p:txBody>
      </p:sp>
      <p:sp>
        <p:nvSpPr>
          <p:cNvPr id="174" name="Google Shape;17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Slide 5: Probability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Time budget: 35 seconds.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SAY: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Probability starts with an uncertain annual failure rate, represented by a Gamma-Poisson model. We convert that rate to the forecast horizon, then update odds using live warning signals. Recent stress can temporarily raise related failure rates.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example shows an illustrative probability moving from about two percent to thirty-one percent after an alert. These priors and signal multipliers are configured assumptions. They require empirical calibration.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Delivery: advance after the final sentence. Do not read every item on screen.</a:t>
            </a:r>
            <a:endParaRPr/>
          </a:p>
        </p:txBody>
      </p:sp>
      <p:sp>
        <p:nvSpPr>
          <p:cNvPr id="224" name="Google Shape;22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Slide 6: Lender impact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Time budget: 30 seconds.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SAY: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impact model uses </a:t>
            </a:r>
            <a:r>
              <a:rPr lang="en-US"/>
              <a:t>monte carlo simulations and </a:t>
            </a:r>
            <a:r>
              <a:rPr lang="en-US" sz="1200"/>
              <a:t>samples five thousand conditional outcomes and propagates damage through the graph.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Collateral buffers absorb smaller declines. Larger declines can create uncovered debt, especially when an oracle or execution failure prevents timely liquidation.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displayed scenario produces about nine percent lender loss with responsive liquidation, versus twenty-two percent with a blind oracle. These are modeled results under the scenario assumptions.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Delivery: advance after the final sentence. Do not read every item on screen.</a:t>
            </a:r>
            <a:endParaRPr/>
          </a:p>
        </p:txBody>
      </p:sp>
      <p:sp>
        <p:nvSpPr>
          <p:cNvPr id="263" name="Google Shape;26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Slide 7: Borrower impact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Time budget: 35 seconds.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SAY: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Borrower losses are measured against equity. In a five-times loop, one dollar of equity supports five dollars of assets and four dollars of debt. A five percent asset decline therefore removes twenty-five percent of equity before costs.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model also considers wrongful liquidation and crossing the liquidation threshold during the horizon. The displayed two-point-one percent liquidation probability is a model estimate, not a measured guarantee.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Delivery: advance after the final sentence. Do not read every item on screen.</a:t>
            </a:r>
            <a:endParaRPr/>
          </a:p>
        </p:txBody>
      </p:sp>
      <p:sp>
        <p:nvSpPr>
          <p:cNvPr id="297" name="Google Shape;29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0" name="Google Shape;33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Slide 8: Different consequences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Time budget: 20 seconds.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SAY: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important distinction is whose exposure we measure. An overly high oracle price can enable over-borrowing and hurt lenders. An overly low price can trigger wrongful liquidation and hurt borrowers.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These effects depend on the position. The dashboard exposes the assumptions instead of treating every warning as having the same consequence.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Delivery: advance after the final sentence. Do not read every item on screen.</a:t>
            </a:r>
            <a:endParaRPr/>
          </a:p>
        </p:txBody>
      </p:sp>
      <p:sp>
        <p:nvSpPr>
          <p:cNvPr id="331" name="Google Shape;33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7" name="Google Shape;38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Slide 9: Recorded 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Time budget: 40 seconds.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SAY: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These are recorded results from </a:t>
            </a:r>
            <a:r>
              <a:rPr lang="en-US"/>
              <a:t>today</a:t>
            </a:r>
            <a:r>
              <a:rPr lang="en-US" sz="1200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BTC-backed strategy produces EXIT because its carry barely covers financing while modeled risk remains.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PT loop produces STAY because a full unwind is very expensive. That is an execution constraint, not a safety endorsement.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real wallet’s calculated health factor closely matches Morpho’s reported value. That checks the balance-sheet calculation, not probability accuracy.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Missing required inputs produce REVIEW.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Delivery: advance after the final sentence. Do not read every item on screen.</a:t>
            </a:r>
            <a:endParaRPr/>
          </a:p>
        </p:txBody>
      </p:sp>
      <p:sp>
        <p:nvSpPr>
          <p:cNvPr id="388" name="Google Shape;38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5" name="Google Shape;44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Slide 10: Conclusion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Time budget: 20 seconds.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SAY: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result is a working route from dependency evidence to modeled losses and an explained decision, supported by monitoring history.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Our next priorities are calibration, broader coverage, and production controls. Doomberg helps the employee inspect and challenge the trade-off before acting. Thank you.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Delivery: advance after the final sentence. Do not read every item on screen.</a:t>
            </a:r>
            <a:endParaRPr/>
          </a:p>
        </p:txBody>
      </p:sp>
      <p:sp>
        <p:nvSpPr>
          <p:cNvPr id="446" name="Google Shape;44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h1d83c4e7f8546bee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h1d83c4e7f8546bee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h1d83c4e7f8546bee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9pPr>
          </a:lstStyle>
          <a:p/>
        </p:txBody>
      </p:sp>
      <p:sp>
        <p:nvSpPr>
          <p:cNvPr id="40" name="Google Shape;40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8" name="Google Shape;48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0" name="Google Shape;5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indent="-2286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indent="-228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1pPr>
            <a:lvl2pPr indent="0" lvl="1" marL="0" marR="0" rtl="0" algn="r">
              <a:spcBef>
                <a:spcPts val="0"/>
              </a:spcBef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2pPr>
            <a:lvl3pPr indent="0" lvl="2" marL="0" marR="0" rtl="0" algn="r">
              <a:spcBef>
                <a:spcPts val="0"/>
              </a:spcBef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3pPr>
            <a:lvl4pPr indent="0" lvl="3" marL="0" marR="0" rtl="0" algn="r">
              <a:spcBef>
                <a:spcPts val="0"/>
              </a:spcBef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4pPr>
            <a:lvl5pPr indent="0" lvl="4" marL="0" marR="0" rtl="0" algn="r">
              <a:spcBef>
                <a:spcPts val="0"/>
              </a:spcBef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5pPr>
            <a:lvl6pPr indent="0" lvl="5" marL="0" marR="0" rtl="0" algn="r">
              <a:spcBef>
                <a:spcPts val="0"/>
              </a:spcBef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6pPr>
            <a:lvl7pPr indent="0" lvl="6" marL="0" marR="0" rtl="0" algn="r">
              <a:spcBef>
                <a:spcPts val="0"/>
              </a:spcBef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7pPr>
            <a:lvl8pPr indent="0" lvl="7" marL="0" marR="0" rtl="0" algn="r">
              <a:spcBef>
                <a:spcPts val="0"/>
              </a:spcBef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8pPr>
            <a:lvl9pPr indent="0" lvl="8" marL="0" marR="0" rtl="0" algn="r">
              <a:spcBef>
                <a:spcPts val="0"/>
              </a:spcBef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0" name="Google Shape;90;p1"/>
          <p:cNvSpPr/>
          <p:nvPr/>
        </p:nvSpPr>
        <p:spPr>
          <a:xfrm>
            <a:off x="914400" y="141732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Quattrocento Sans"/>
              <a:buNone/>
            </a:pPr>
            <a:r>
              <a:rPr b="0" i="0" lang="en-US" spc="200" sz="12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BELEM CAPITAL  ·  EPFL HACKATHON 2026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914400" y="1874519"/>
            <a:ext cx="10058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5400"/>
              <a:buFont typeface="Quattrocento Sans"/>
              <a:buNone/>
            </a:pPr>
            <a:r>
              <a:rPr b="0" i="0" lang="en-US" sz="54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Stay or exit? Doomberg.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600"/>
              <a:buFont typeface="Quattrocento Sans"/>
              <a:buNone/>
            </a:pPr>
            <a:r>
              <a:rPr b="0" i="0" lang="en-US" sz="260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DeFi risk </a:t>
            </a:r>
            <a:r>
              <a:rPr lang="en-US" sz="260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dependency</a:t>
            </a:r>
            <a:r>
              <a:rPr b="0" i="0" lang="en-US" sz="260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engine for real</a:t>
            </a:r>
            <a:r>
              <a:rPr lang="en-US" sz="260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</a:t>
            </a:r>
            <a:r>
              <a:rPr b="0" i="0" lang="en-US" sz="260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time Pendle PT positions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914400" y="3886200"/>
            <a:ext cx="1463040" cy="2540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3" name="Google Shape;93;p1"/>
          <p:cNvSpPr/>
          <p:nvPr/>
        </p:nvSpPr>
        <p:spPr>
          <a:xfrm>
            <a:off x="914400" y="411480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Quattrocento Sans"/>
              <a:buNone/>
            </a:pPr>
            <a:r>
              <a:rPr b="0" i="0" lang="en-US" sz="16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Maps supported dependencies, estimates failure losses, and compares staying with exiting for lenders and borrowers.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914400" y="553212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50"/>
              <a:buFont typeface="Quattrocento Sans"/>
              <a:buNone/>
            </a:pPr>
            <a:r>
              <a:rPr b="0" i="0" lang="en-US" spc="120" sz="95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Quattrocento Sans"/>
              <a:buNone/>
            </a:pPr>
            <a:r>
              <a:rPr b="0" i="0" lang="en-US" sz="120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Live: Pendle · Morpho · KyberSwap · RPC</a:t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4434840" y="553212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50"/>
              <a:buFont typeface="Quattrocento Sans"/>
              <a:buNone/>
            </a:pPr>
            <a:r>
              <a:rPr b="0" i="0" lang="en-US" spc="120" sz="95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METHOD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Quattrocento Sans"/>
              <a:buNone/>
            </a:pPr>
            <a:r>
              <a:rPr b="0" i="0" lang="en-US" sz="120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Bayesian probability · Monte Carlo impact</a:t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7955279" y="553212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50"/>
              <a:buFont typeface="Quattrocento Sans"/>
              <a:buNone/>
            </a:pPr>
            <a:r>
              <a:rPr b="0" i="0" lang="en-US" spc="120" sz="95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OUTPUT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Quattrocento Sans"/>
              <a:buNone/>
            </a:pPr>
            <a:r>
              <a:rPr b="0" i="0" lang="en-US" sz="120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STAY / EXIT with break-even and evidence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548640" y="566928"/>
            <a:ext cx="292608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3" name="Google Shape;103;p2"/>
          <p:cNvSpPr/>
          <p:nvPr/>
        </p:nvSpPr>
        <p:spPr>
          <a:xfrm>
            <a:off x="932688" y="4754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50"/>
              <a:buFont typeface="Quattrocento Sans"/>
              <a:buNone/>
            </a:pPr>
            <a:r>
              <a:rPr b="0" i="0" lang="en-US" spc="150" sz="105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CHALLENGE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548640" y="786384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Quattrocento Sans"/>
              <a:buNone/>
            </a:pPr>
            <a:r>
              <a:rPr b="0" i="0" lang="en-US" sz="28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One position quietly depends on five layers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Quattrocento Sans"/>
              <a:buNone/>
            </a:pPr>
            <a:r>
              <a:rPr b="0" i="0" lang="en-US" sz="14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failure can propagate through the stack. Does exiting avoid more loss than it costs?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548640" y="6382512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7" name="Google Shape;107;p2"/>
          <p:cNvSpPr/>
          <p:nvPr/>
        </p:nvSpPr>
        <p:spPr>
          <a:xfrm>
            <a:off x="548640" y="6455664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0" i="0" lang="en-US" sz="9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Belem Capital  ·  DeFi Risk Dependency Challenge  ·  EPFL 2026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10725912" y="645566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0" i="0" lang="en-US" sz="9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 / 10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548640" y="2148840"/>
            <a:ext cx="6035040" cy="658368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0" name="Google Shape;110;p2"/>
          <p:cNvSpPr/>
          <p:nvPr/>
        </p:nvSpPr>
        <p:spPr>
          <a:xfrm>
            <a:off x="749808" y="2148840"/>
            <a:ext cx="457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2000"/>
              <a:buFont typeface="Quattrocento Sans"/>
              <a:buNone/>
            </a:pPr>
            <a:r>
              <a:rPr b="0" i="0" lang="en-US" sz="20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1234440" y="224028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Quattrocento Sans"/>
              <a:buNone/>
            </a:pPr>
            <a:r>
              <a:rPr b="0" i="0" lang="en-US" sz="14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Lending venue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Quattrocento Sans"/>
              <a:buNone/>
            </a:pPr>
            <a:r>
              <a:rPr b="0" i="0" lang="en-US" sz="11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Morpho market holding the PT as collateral</a:t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548640" y="2935224"/>
            <a:ext cx="6035040" cy="658368"/>
          </a:xfrm>
          <a:prstGeom prst="roundRect">
            <a:avLst>
              <a:gd fmla="val 6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3" name="Google Shape;113;p2"/>
          <p:cNvSpPr/>
          <p:nvPr/>
        </p:nvSpPr>
        <p:spPr>
          <a:xfrm>
            <a:off x="749808" y="2935224"/>
            <a:ext cx="457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2000"/>
              <a:buFont typeface="Quattrocento Sans"/>
              <a:buNone/>
            </a:pPr>
            <a:r>
              <a:rPr b="0" i="0" lang="en-US" sz="20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1234440" y="3026664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Quattrocento Sans"/>
              <a:buNone/>
            </a:pPr>
            <a:r>
              <a:rPr b="0" i="0" lang="en-US" sz="14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AMM market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Quattrocento Sans"/>
              <a:buNone/>
            </a:pPr>
            <a:r>
              <a:rPr b="0" i="0" lang="en-US" sz="11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Pendle pool where the PT trades and exits</a:t>
            </a: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548640" y="3721608"/>
            <a:ext cx="6035040" cy="658368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6" name="Google Shape;116;p2"/>
          <p:cNvSpPr/>
          <p:nvPr/>
        </p:nvSpPr>
        <p:spPr>
          <a:xfrm>
            <a:off x="749808" y="3721608"/>
            <a:ext cx="457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2000"/>
              <a:buFont typeface="Quattrocento Sans"/>
              <a:buNone/>
            </a:pPr>
            <a:r>
              <a:rPr b="0" i="0" lang="en-US" sz="20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117" name="Google Shape;117;p2"/>
          <p:cNvSpPr/>
          <p:nvPr/>
        </p:nvSpPr>
        <p:spPr>
          <a:xfrm>
            <a:off x="1234440" y="3813048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Quattrocento Sans"/>
              <a:buNone/>
            </a:pPr>
            <a:r>
              <a:rPr b="0" i="0" lang="en-US" sz="14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Oracle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Quattrocento Sans"/>
              <a:buNone/>
            </a:pPr>
            <a:r>
              <a:rPr b="0" i="0" lang="en-US" sz="11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Price feed that decides liquidations</a:t>
            </a:r>
            <a:endParaRPr/>
          </a:p>
        </p:txBody>
      </p:sp>
      <p:sp>
        <p:nvSpPr>
          <p:cNvPr id="118" name="Google Shape;118;p2"/>
          <p:cNvSpPr/>
          <p:nvPr/>
        </p:nvSpPr>
        <p:spPr>
          <a:xfrm>
            <a:off x="548640" y="4507992"/>
            <a:ext cx="6035040" cy="658368"/>
          </a:xfrm>
          <a:prstGeom prst="roundRect">
            <a:avLst>
              <a:gd fmla="val 6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9" name="Google Shape;119;p2"/>
          <p:cNvSpPr/>
          <p:nvPr/>
        </p:nvSpPr>
        <p:spPr>
          <a:xfrm>
            <a:off x="749808" y="4507992"/>
            <a:ext cx="457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2000"/>
              <a:buFont typeface="Quattrocento Sans"/>
              <a:buNone/>
            </a:pPr>
            <a:r>
              <a:rPr b="0" i="0" lang="en-US" sz="20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1234440" y="4599431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Quattrocento Sans"/>
              <a:buNone/>
            </a:pPr>
            <a:r>
              <a:rPr b="0" i="0" lang="en-US" sz="14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Underlying yield source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Quattrocento Sans"/>
              <a:buNone/>
            </a:pPr>
            <a:r>
              <a:rPr b="0" i="0" lang="en-US" sz="11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sUSDe → USDe → Ethena, issuer, mint keys</a:t>
            </a:r>
            <a:endParaRPr/>
          </a:p>
        </p:txBody>
      </p:sp>
      <p:sp>
        <p:nvSpPr>
          <p:cNvPr id="121" name="Google Shape;121;p2"/>
          <p:cNvSpPr/>
          <p:nvPr/>
        </p:nvSpPr>
        <p:spPr>
          <a:xfrm>
            <a:off x="548640" y="5294376"/>
            <a:ext cx="6035040" cy="658368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2" name="Google Shape;122;p2"/>
          <p:cNvSpPr/>
          <p:nvPr/>
        </p:nvSpPr>
        <p:spPr>
          <a:xfrm>
            <a:off x="749808" y="5294376"/>
            <a:ext cx="457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2000"/>
              <a:buFont typeface="Quattrocento Sans"/>
              <a:buNone/>
            </a:pPr>
            <a:r>
              <a:rPr b="0" i="0" lang="en-US" sz="20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1234440" y="5385816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Quattrocento Sans"/>
              <a:buNone/>
            </a:pPr>
            <a:r>
              <a:rPr b="0" i="0" lang="en-US" sz="14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Settlement chain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Quattrocento Sans"/>
              <a:buNone/>
            </a:pPr>
            <a:r>
              <a:rPr b="0" i="0" lang="en-US" sz="11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Ethereum: if it stops, nobody can act</a:t>
            </a:r>
            <a:endParaRPr/>
          </a:p>
        </p:txBody>
      </p:sp>
      <p:sp>
        <p:nvSpPr>
          <p:cNvPr id="124" name="Google Shape;124;p2"/>
          <p:cNvSpPr/>
          <p:nvPr/>
        </p:nvSpPr>
        <p:spPr>
          <a:xfrm>
            <a:off x="7086600" y="21488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Quattrocento Sans"/>
              <a:buNone/>
            </a:pPr>
            <a:r>
              <a:rPr b="0" i="0" lang="en-US" spc="120" sz="10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THE ENGINE MUST DO</a:t>
            </a:r>
            <a:endParaRPr/>
          </a:p>
        </p:txBody>
      </p:sp>
      <p:sp>
        <p:nvSpPr>
          <p:cNvPr id="125" name="Google Shape;125;p2"/>
          <p:cNvSpPr/>
          <p:nvPr/>
        </p:nvSpPr>
        <p:spPr>
          <a:xfrm>
            <a:off x="7086600" y="2560320"/>
            <a:ext cx="374903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Quattrocento Sans"/>
              <a:buNone/>
            </a:pPr>
            <a:r>
              <a:rPr b="0" i="0" lang="en-US" sz="1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Discover </a:t>
            </a:r>
            <a:r>
              <a:rPr b="0" i="0" lang="en-US" sz="130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dependency graph from real on-chain and API data</a:t>
            </a:r>
            <a:endParaRPr/>
          </a:p>
        </p:txBody>
      </p:sp>
      <p:sp>
        <p:nvSpPr>
          <p:cNvPr id="126" name="Google Shape;126;p2"/>
          <p:cNvSpPr/>
          <p:nvPr/>
        </p:nvSpPr>
        <p:spPr>
          <a:xfrm>
            <a:off x="10927080" y="2560320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500"/>
              <a:buFont typeface="Quattrocento Sans"/>
              <a:buNone/>
            </a:pPr>
            <a:r>
              <a:rPr b="0" i="0" lang="en-US" sz="15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30%</a:t>
            </a:r>
            <a:endParaRPr/>
          </a:p>
        </p:txBody>
      </p:sp>
      <p:sp>
        <p:nvSpPr>
          <p:cNvPr id="127" name="Google Shape;127;p2"/>
          <p:cNvSpPr/>
          <p:nvPr/>
        </p:nvSpPr>
        <p:spPr>
          <a:xfrm>
            <a:off x="7086600" y="3200400"/>
            <a:ext cx="457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8" name="Google Shape;128;p2"/>
          <p:cNvSpPr/>
          <p:nvPr/>
        </p:nvSpPr>
        <p:spPr>
          <a:xfrm>
            <a:off x="7086600" y="3273552"/>
            <a:ext cx="374903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Quattrocento Sans"/>
              <a:buNone/>
            </a:pPr>
            <a:r>
              <a:rPr b="0" i="0" lang="en-US" sz="1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Estimate </a:t>
            </a:r>
            <a:r>
              <a:rPr b="0" i="0" lang="en-US" sz="130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economic impact when one component fails</a:t>
            </a:r>
            <a:endParaRPr/>
          </a:p>
        </p:txBody>
      </p:sp>
      <p:sp>
        <p:nvSpPr>
          <p:cNvPr id="129" name="Google Shape;129;p2"/>
          <p:cNvSpPr/>
          <p:nvPr/>
        </p:nvSpPr>
        <p:spPr>
          <a:xfrm>
            <a:off x="10927080" y="3273552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500"/>
              <a:buFont typeface="Quattrocento Sans"/>
              <a:buNone/>
            </a:pPr>
            <a:r>
              <a:rPr b="0" i="0" lang="en-US" sz="15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30%</a:t>
            </a:r>
            <a:endParaRPr/>
          </a:p>
        </p:txBody>
      </p:sp>
      <p:sp>
        <p:nvSpPr>
          <p:cNvPr id="130" name="Google Shape;130;p2"/>
          <p:cNvSpPr/>
          <p:nvPr/>
        </p:nvSpPr>
        <p:spPr>
          <a:xfrm>
            <a:off x="7086600" y="3913632"/>
            <a:ext cx="457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1" name="Google Shape;131;p2"/>
          <p:cNvSpPr/>
          <p:nvPr/>
        </p:nvSpPr>
        <p:spPr>
          <a:xfrm>
            <a:off x="7086600" y="3986783"/>
            <a:ext cx="374903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Quattrocento Sans"/>
              <a:buNone/>
            </a:pPr>
            <a:r>
              <a:rPr b="0" i="0" lang="en-US" sz="1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Decide </a:t>
            </a:r>
            <a:r>
              <a:rPr b="0" i="0" lang="en-US" sz="130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stay or exit, and explain why</a:t>
            </a:r>
            <a:endParaRPr/>
          </a:p>
        </p:txBody>
      </p:sp>
      <p:sp>
        <p:nvSpPr>
          <p:cNvPr id="132" name="Google Shape;132;p2"/>
          <p:cNvSpPr/>
          <p:nvPr/>
        </p:nvSpPr>
        <p:spPr>
          <a:xfrm>
            <a:off x="10927080" y="3986783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500"/>
              <a:buFont typeface="Quattrocento Sans"/>
              <a:buNone/>
            </a:pPr>
            <a:r>
              <a:rPr b="0" i="0" lang="en-US" sz="15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25%</a:t>
            </a:r>
            <a:endParaRPr/>
          </a:p>
        </p:txBody>
      </p:sp>
      <p:sp>
        <p:nvSpPr>
          <p:cNvPr id="133" name="Google Shape;133;p2"/>
          <p:cNvSpPr/>
          <p:nvPr/>
        </p:nvSpPr>
        <p:spPr>
          <a:xfrm>
            <a:off x="7086600" y="4626864"/>
            <a:ext cx="457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4" name="Google Shape;134;p2"/>
          <p:cNvSpPr/>
          <p:nvPr/>
        </p:nvSpPr>
        <p:spPr>
          <a:xfrm>
            <a:off x="7086600" y="4700016"/>
            <a:ext cx="374903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Quattrocento Sans"/>
              <a:buNone/>
            </a:pPr>
            <a:r>
              <a:rPr b="0" i="0" lang="en-US" sz="1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Demo </a:t>
            </a:r>
            <a:r>
              <a:rPr b="0" i="0" lang="en-US" sz="130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 live positions, not a mock-up</a:t>
            </a:r>
            <a:endParaRPr/>
          </a:p>
        </p:txBody>
      </p:sp>
      <p:sp>
        <p:nvSpPr>
          <p:cNvPr id="135" name="Google Shape;135;p2"/>
          <p:cNvSpPr/>
          <p:nvPr/>
        </p:nvSpPr>
        <p:spPr>
          <a:xfrm>
            <a:off x="10927080" y="4700016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500"/>
              <a:buFont typeface="Quattrocento Sans"/>
              <a:buNone/>
            </a:pPr>
            <a:r>
              <a:rPr b="0" i="0" lang="en-US" sz="15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15%</a:t>
            </a:r>
            <a:endParaRPr/>
          </a:p>
        </p:txBody>
      </p:sp>
      <p:sp>
        <p:nvSpPr>
          <p:cNvPr id="136" name="Google Shape;136;p2"/>
          <p:cNvSpPr/>
          <p:nvPr/>
        </p:nvSpPr>
        <p:spPr>
          <a:xfrm>
            <a:off x="7086600" y="5486400"/>
            <a:ext cx="4572000" cy="621792"/>
          </a:xfrm>
          <a:prstGeom prst="roundRect">
            <a:avLst>
              <a:gd fmla="val 6000" name="adj"/>
            </a:avLst>
          </a:prstGeom>
          <a:solidFill>
            <a:srgbClr val="E6F4F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7" name="Google Shape;137;p2"/>
          <p:cNvSpPr/>
          <p:nvPr/>
        </p:nvSpPr>
        <p:spPr>
          <a:xfrm>
            <a:off x="7269480" y="5486400"/>
            <a:ext cx="42976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Quattrocento Sans"/>
              <a:buNone/>
            </a:pPr>
            <a:r>
              <a:rPr b="0" i="1" lang="en-US" sz="12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“Is the expected loss from staying high enough to justify exiting despite slippage?”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/>
          <p:cNvSpPr/>
          <p:nvPr/>
        </p:nvSpPr>
        <p:spPr>
          <a:xfrm>
            <a:off x="548640" y="566928"/>
            <a:ext cx="292608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4" name="Google Shape;144;p3"/>
          <p:cNvSpPr/>
          <p:nvPr/>
        </p:nvSpPr>
        <p:spPr>
          <a:xfrm>
            <a:off x="932688" y="4754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50"/>
              <a:buFont typeface="Quattrocento Sans"/>
              <a:buNone/>
            </a:pPr>
            <a:r>
              <a:rPr b="0" i="0" lang="en-US" spc="150" sz="105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OUR APPROACH</a:t>
            </a: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548640" y="786384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Quattrocento Sans"/>
              <a:buNone/>
            </a:pPr>
            <a:r>
              <a:rPr b="0" i="0" lang="en-US" sz="28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Five steps from a position to a verdict</a:t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548640" y="6382512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7" name="Google Shape;147;p3"/>
          <p:cNvSpPr/>
          <p:nvPr/>
        </p:nvSpPr>
        <p:spPr>
          <a:xfrm>
            <a:off x="548640" y="6455664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0" i="0" lang="en-US" sz="9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Belem Capital  ·  DeFi Risk Dependency Challenge  ·  EPFL 2026</a:t>
            </a:r>
            <a:endParaRPr/>
          </a:p>
        </p:txBody>
      </p:sp>
      <p:sp>
        <p:nvSpPr>
          <p:cNvPr id="148" name="Google Shape;148;p3"/>
          <p:cNvSpPr/>
          <p:nvPr/>
        </p:nvSpPr>
        <p:spPr>
          <a:xfrm>
            <a:off x="10725912" y="645566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0" i="0" lang="en-US" sz="9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 / 10</a:t>
            </a: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548640" y="1737360"/>
            <a:ext cx="2093976" cy="2514600"/>
          </a:xfrm>
          <a:prstGeom prst="roundRect">
            <a:avLst>
              <a:gd fmla="val 6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0" name="Google Shape;150;p3"/>
          <p:cNvSpPr/>
          <p:nvPr/>
        </p:nvSpPr>
        <p:spPr>
          <a:xfrm>
            <a:off x="749808" y="1901952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2600"/>
              <a:buFont typeface="Quattrocento Sans"/>
              <a:buNone/>
            </a:pPr>
            <a:r>
              <a:rPr b="0" i="0" lang="en-US" sz="26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749808" y="2487168"/>
            <a:ext cx="1728216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Quattrocento Sans"/>
              <a:buNone/>
            </a:pPr>
            <a:r>
              <a:rPr b="0" i="0" lang="en-US" sz="16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Map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0F766E"/>
              </a:buClr>
              <a:buSzPts val="1150"/>
              <a:buFont typeface="Quattrocento Sans"/>
              <a:buNone/>
            </a:pPr>
            <a:r>
              <a:rPr b="0" i="0" lang="en-US" sz="115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does it depend on?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Quattrocento Sans"/>
              <a:buNone/>
            </a:pPr>
            <a:r>
              <a:rPr b="0" i="0" lang="en-US" sz="115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Discover components and retain evidence.</a:t>
            </a:r>
            <a:endParaRPr/>
          </a:p>
        </p:txBody>
      </p:sp>
      <p:sp>
        <p:nvSpPr>
          <p:cNvPr id="152" name="Google Shape;152;p3"/>
          <p:cNvSpPr/>
          <p:nvPr/>
        </p:nvSpPr>
        <p:spPr>
          <a:xfrm>
            <a:off x="2624328" y="2788920"/>
            <a:ext cx="1920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Quattrocento Sans"/>
              <a:buNone/>
            </a:pPr>
            <a:r>
              <a:rPr b="0" i="0" lang="en-US" sz="18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›</a:t>
            </a:r>
            <a:endParaRPr/>
          </a:p>
        </p:txBody>
      </p:sp>
      <p:sp>
        <p:nvSpPr>
          <p:cNvPr id="153" name="Google Shape;153;p3"/>
          <p:cNvSpPr/>
          <p:nvPr/>
        </p:nvSpPr>
        <p:spPr>
          <a:xfrm>
            <a:off x="2798064" y="1737360"/>
            <a:ext cx="2093976" cy="2514600"/>
          </a:xfrm>
          <a:prstGeom prst="roundRect">
            <a:avLst>
              <a:gd fmla="val 6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4" name="Google Shape;154;p3"/>
          <p:cNvSpPr/>
          <p:nvPr/>
        </p:nvSpPr>
        <p:spPr>
          <a:xfrm>
            <a:off x="2999232" y="1901952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2600"/>
              <a:buFont typeface="Quattrocento Sans"/>
              <a:buNone/>
            </a:pPr>
            <a:r>
              <a:rPr b="0" i="0" lang="en-US" sz="26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155" name="Google Shape;155;p3"/>
          <p:cNvSpPr/>
          <p:nvPr/>
        </p:nvSpPr>
        <p:spPr>
          <a:xfrm>
            <a:off x="2999232" y="2487168"/>
            <a:ext cx="1728216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Quattrocento Sans"/>
              <a:buNone/>
            </a:pPr>
            <a:r>
              <a:rPr b="0" i="0" lang="en-US" sz="16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likely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0F766E"/>
              </a:buClr>
              <a:buSzPts val="1150"/>
              <a:buFont typeface="Quattrocento Sans"/>
              <a:buNone/>
            </a:pPr>
            <a:r>
              <a:rPr b="0" i="0" lang="en-US" sz="115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Chance each part fails in 30 days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Quattrocento Sans"/>
              <a:buNone/>
            </a:pPr>
            <a:r>
              <a:rPr b="0" i="0" lang="en-US" sz="115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Starting risk updated by live signals.</a:t>
            </a: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4873752" y="2788920"/>
            <a:ext cx="1920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Quattrocento Sans"/>
              <a:buNone/>
            </a:pPr>
            <a:r>
              <a:rPr b="0" i="0" lang="en-US" sz="18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›</a:t>
            </a:r>
            <a:endParaRPr/>
          </a:p>
        </p:txBody>
      </p:sp>
      <p:sp>
        <p:nvSpPr>
          <p:cNvPr id="157" name="Google Shape;157;p3"/>
          <p:cNvSpPr/>
          <p:nvPr/>
        </p:nvSpPr>
        <p:spPr>
          <a:xfrm>
            <a:off x="5047488" y="1737360"/>
            <a:ext cx="2093976" cy="2514600"/>
          </a:xfrm>
          <a:prstGeom prst="roundRect">
            <a:avLst>
              <a:gd fmla="val 6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8" name="Google Shape;158;p3"/>
          <p:cNvSpPr/>
          <p:nvPr/>
        </p:nvSpPr>
        <p:spPr>
          <a:xfrm>
            <a:off x="5248655" y="1901952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2600"/>
              <a:buFont typeface="Quattrocento Sans"/>
              <a:buNone/>
            </a:pPr>
            <a:r>
              <a:rPr b="0" i="0" lang="en-US" sz="26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5248655" y="2487168"/>
            <a:ext cx="1728216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Quattrocento Sans"/>
              <a:buNone/>
            </a:pPr>
            <a:r>
              <a:rPr b="0" i="0" lang="en-US" sz="16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bad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0F766E"/>
              </a:buClr>
              <a:buSzPts val="1150"/>
              <a:buFont typeface="Quattrocento Sans"/>
              <a:buNone/>
            </a:pPr>
            <a:r>
              <a:rPr b="0" i="0" lang="en-US" sz="115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would we lose?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Quattrocento Sans"/>
              <a:buNone/>
            </a:pPr>
            <a:r>
              <a:rPr b="0" i="0" lang="en-US" sz="115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5,000 modeled outcomes through the graph.</a:t>
            </a:r>
            <a:endParaRPr/>
          </a:p>
        </p:txBody>
      </p:sp>
      <p:sp>
        <p:nvSpPr>
          <p:cNvPr id="160" name="Google Shape;160;p3"/>
          <p:cNvSpPr/>
          <p:nvPr/>
        </p:nvSpPr>
        <p:spPr>
          <a:xfrm>
            <a:off x="7123176" y="2788920"/>
            <a:ext cx="1920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Quattrocento Sans"/>
              <a:buNone/>
            </a:pPr>
            <a:r>
              <a:rPr b="0" i="0" lang="en-US" sz="18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›</a:t>
            </a: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7296912" y="1737360"/>
            <a:ext cx="2093976" cy="2514600"/>
          </a:xfrm>
          <a:prstGeom prst="roundRect">
            <a:avLst>
              <a:gd fmla="val 6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2" name="Google Shape;162;p3"/>
          <p:cNvSpPr/>
          <p:nvPr/>
        </p:nvSpPr>
        <p:spPr>
          <a:xfrm>
            <a:off x="7498079" y="1901952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2600"/>
              <a:buFont typeface="Quattrocento Sans"/>
              <a:buNone/>
            </a:pPr>
            <a:r>
              <a:rPr b="0" i="0" lang="en-US" sz="26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163" name="Google Shape;163;p3"/>
          <p:cNvSpPr/>
          <p:nvPr/>
        </p:nvSpPr>
        <p:spPr>
          <a:xfrm>
            <a:off x="7498079" y="2487168"/>
            <a:ext cx="1728216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Quattrocento Sans"/>
              <a:buNone/>
            </a:pPr>
            <a:r>
              <a:rPr b="0" i="0" lang="en-US" sz="16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Cost to leave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0F766E"/>
              </a:buClr>
              <a:buSzPts val="1150"/>
              <a:buFont typeface="Quattrocento Sans"/>
              <a:buNone/>
            </a:pPr>
            <a:r>
              <a:rPr b="0" i="0" lang="en-US" sz="115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does exiting cost now?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Quattrocento Sans"/>
              <a:buNone/>
            </a:pPr>
            <a:r>
              <a:rPr b="0" i="0" lang="en-US" sz="115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quotes and available liquidity.</a:t>
            </a:r>
            <a:endParaRPr/>
          </a:p>
        </p:txBody>
      </p:sp>
      <p:sp>
        <p:nvSpPr>
          <p:cNvPr id="164" name="Google Shape;164;p3"/>
          <p:cNvSpPr/>
          <p:nvPr/>
        </p:nvSpPr>
        <p:spPr>
          <a:xfrm>
            <a:off x="9372600" y="2788920"/>
            <a:ext cx="1920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Quattrocento Sans"/>
              <a:buNone/>
            </a:pPr>
            <a:r>
              <a:rPr b="0" i="0" lang="en-US" sz="18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›</a:t>
            </a:r>
            <a:endParaRPr/>
          </a:p>
        </p:txBody>
      </p:sp>
      <p:sp>
        <p:nvSpPr>
          <p:cNvPr id="165" name="Google Shape;165;p3"/>
          <p:cNvSpPr/>
          <p:nvPr/>
        </p:nvSpPr>
        <p:spPr>
          <a:xfrm>
            <a:off x="9546336" y="1737360"/>
            <a:ext cx="2093976" cy="2514600"/>
          </a:xfrm>
          <a:prstGeom prst="roundRect">
            <a:avLst>
              <a:gd fmla="val 6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6" name="Google Shape;166;p3"/>
          <p:cNvSpPr/>
          <p:nvPr/>
        </p:nvSpPr>
        <p:spPr>
          <a:xfrm>
            <a:off x="9747504" y="1901952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2600"/>
              <a:buFont typeface="Quattrocento Sans"/>
              <a:buNone/>
            </a:pPr>
            <a:r>
              <a:rPr b="0" i="0" lang="en-US" sz="26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167" name="Google Shape;167;p3"/>
          <p:cNvSpPr/>
          <p:nvPr/>
        </p:nvSpPr>
        <p:spPr>
          <a:xfrm>
            <a:off x="9747504" y="2487168"/>
            <a:ext cx="1728216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Quattrocento Sans"/>
              <a:buNone/>
            </a:pPr>
            <a:r>
              <a:rPr b="0" i="0" lang="en-US" sz="16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Decide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0F766E"/>
              </a:buClr>
              <a:buSzPts val="1150"/>
              <a:buFont typeface="Quattrocento Sans"/>
              <a:buNone/>
            </a:pPr>
            <a:r>
              <a:rPr b="0" i="0" lang="en-US" sz="115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 leaving worth it?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Quattrocento Sans"/>
              <a:buNone/>
            </a:pPr>
            <a:r>
              <a:rPr b="0" i="0" lang="en-US" sz="115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Avoidable loss versus exit cost.</a:t>
            </a:r>
            <a:endParaRPr/>
          </a:p>
        </p:txBody>
      </p:sp>
      <p:sp>
        <p:nvSpPr>
          <p:cNvPr id="168" name="Google Shape;168;p3"/>
          <p:cNvSpPr/>
          <p:nvPr/>
        </p:nvSpPr>
        <p:spPr>
          <a:xfrm>
            <a:off x="548640" y="457200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Quattrocento Sans"/>
              <a:buNone/>
            </a:pPr>
            <a:r>
              <a:rPr b="0" i="0" lang="en-US" spc="120" sz="10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WHOLE DECISION IN ONE LINE</a:t>
            </a:r>
            <a:endParaRPr/>
          </a:p>
        </p:txBody>
      </p:sp>
      <p:sp>
        <p:nvSpPr>
          <p:cNvPr id="169" name="Google Shape;169;p3"/>
          <p:cNvSpPr/>
          <p:nvPr/>
        </p:nvSpPr>
        <p:spPr>
          <a:xfrm>
            <a:off x="548640" y="4846320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Quattrocento Sans"/>
              <a:buNone/>
            </a:pPr>
            <a:r>
              <a:rPr b="0" i="0" lang="en-US" sz="20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 only when the loss we can still avoid is bigger than the cost of leaving</a:t>
            </a:r>
            <a:endParaRPr/>
          </a:p>
        </p:txBody>
      </p:sp>
      <p:sp>
        <p:nvSpPr>
          <p:cNvPr id="170" name="Google Shape;170;p3"/>
          <p:cNvSpPr/>
          <p:nvPr/>
        </p:nvSpPr>
        <p:spPr>
          <a:xfrm>
            <a:off x="548640" y="5413248"/>
            <a:ext cx="110916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Quattrocento Sans"/>
              <a:buNone/>
            </a:pPr>
            <a:r>
              <a:rPr b="0" i="0" lang="en-US" sz="12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Example: 2% probability × 40% loss = 0.8% expected loss.</a:t>
            </a:r>
            <a:endParaRPr/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Quattrocento Sans"/>
              <a:buNone/>
            </a:pPr>
            <a:r>
              <a:rPr b="0" i="0" lang="en-US" sz="12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With full withdrawal and a 0.4% exit cost: EXIT.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/>
          <p:nvPr/>
        </p:nvSpPr>
        <p:spPr>
          <a:xfrm>
            <a:off x="548640" y="566928"/>
            <a:ext cx="292608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77" name="Google Shape;177;p4"/>
          <p:cNvSpPr/>
          <p:nvPr/>
        </p:nvSpPr>
        <p:spPr>
          <a:xfrm>
            <a:off x="932688" y="4754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50"/>
              <a:buFont typeface="Quattrocento Sans"/>
              <a:buNone/>
            </a:pPr>
            <a:r>
              <a:rPr b="0" i="0" lang="en-US" spc="150" sz="105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TWO BUSINESSES, ONE ENGINE</a:t>
            </a: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548640" y="786384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Quattrocento Sans"/>
              <a:buNone/>
            </a:pPr>
            <a:r>
              <a:rPr b="0" i="0" lang="en-US" sz="28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Belem lends, and Belem borrows</a:t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Quattrocento Sans"/>
              <a:buNone/>
            </a:pPr>
            <a:r>
              <a:rPr b="0" i="0" lang="en-US" sz="14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chance of a failure is the same on both sides. What it does to the money is not.</a:t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548640" y="6382512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81" name="Google Shape;181;p4"/>
          <p:cNvSpPr/>
          <p:nvPr/>
        </p:nvSpPr>
        <p:spPr>
          <a:xfrm>
            <a:off x="548640" y="6455664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0" i="0" lang="en-US" sz="9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Belem Capital  ·  DeFi Risk Dependency Challenge  ·  EPFL 2026</a:t>
            </a: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10725912" y="645566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0" i="0" lang="en-US" sz="9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 / 10</a:t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548640" y="2057400"/>
            <a:ext cx="5422392" cy="4069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84" name="Google Shape;184;p4"/>
          <p:cNvSpPr/>
          <p:nvPr/>
        </p:nvSpPr>
        <p:spPr>
          <a:xfrm>
            <a:off x="548640" y="2057400"/>
            <a:ext cx="5422392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85" name="Google Shape;185;p4"/>
          <p:cNvSpPr/>
          <p:nvPr/>
        </p:nvSpPr>
        <p:spPr>
          <a:xfrm>
            <a:off x="822959" y="2377440"/>
            <a:ext cx="1051560" cy="274320"/>
          </a:xfrm>
          <a:prstGeom prst="roundRect">
            <a:avLst>
              <a:gd fmla="val 6000" name="adj"/>
            </a:avLst>
          </a:prstGeom>
          <a:solidFill>
            <a:srgbClr val="E6F4F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86" name="Google Shape;186;p4"/>
          <p:cNvSpPr/>
          <p:nvPr/>
        </p:nvSpPr>
        <p:spPr>
          <a:xfrm>
            <a:off x="822959" y="2377440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Quattrocento Sans"/>
              <a:buNone/>
            </a:pPr>
            <a:r>
              <a:rPr b="0" i="0" lang="en-US" sz="10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LENDER</a:t>
            </a:r>
            <a:endParaRPr/>
          </a:p>
        </p:txBody>
      </p:sp>
      <p:sp>
        <p:nvSpPr>
          <p:cNvPr id="187" name="Google Shape;187;p4"/>
          <p:cNvSpPr/>
          <p:nvPr/>
        </p:nvSpPr>
        <p:spPr>
          <a:xfrm>
            <a:off x="822959" y="27889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Quattrocento Sans"/>
              <a:buNone/>
            </a:pPr>
            <a:r>
              <a:rPr b="0" i="0" lang="en-US" sz="16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Supplies USDC to a Morpho market</a:t>
            </a:r>
            <a:endParaRPr/>
          </a:p>
        </p:txBody>
      </p:sp>
      <p:sp>
        <p:nvSpPr>
          <p:cNvPr id="188" name="Google Shape;188;p4"/>
          <p:cNvSpPr/>
          <p:nvPr/>
        </p:nvSpPr>
        <p:spPr>
          <a:xfrm>
            <a:off x="822959" y="333756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Quattrocento Sans"/>
              <a:buNone/>
            </a:pPr>
            <a:r>
              <a:rPr b="0" i="0" lang="en-US" sz="11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it earns</a:t>
            </a:r>
            <a:endParaRPr/>
          </a:p>
        </p:txBody>
      </p:sp>
      <p:sp>
        <p:nvSpPr>
          <p:cNvPr id="189" name="Google Shape;189;p4"/>
          <p:cNvSpPr/>
          <p:nvPr/>
        </p:nvSpPr>
        <p:spPr>
          <a:xfrm>
            <a:off x="2560320" y="33375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Interest borrowers pay (supply APY)</a:t>
            </a: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822959" y="3758184"/>
            <a:ext cx="48737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1" name="Google Shape;191;p4"/>
          <p:cNvSpPr/>
          <p:nvPr/>
        </p:nvSpPr>
        <p:spPr>
          <a:xfrm>
            <a:off x="822959" y="3867911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Quattrocento Sans"/>
              <a:buNone/>
            </a:pPr>
            <a:r>
              <a:rPr b="0" i="0" lang="en-US" sz="11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it owns</a:t>
            </a:r>
            <a:endParaRPr/>
          </a:p>
        </p:txBody>
      </p:sp>
      <p:sp>
        <p:nvSpPr>
          <p:cNvPr id="192" name="Google Shape;192;p4"/>
          <p:cNvSpPr/>
          <p:nvPr/>
        </p:nvSpPr>
        <p:spPr>
          <a:xfrm>
            <a:off x="2560320" y="3867911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claim on USDC lent against PT collateral</a:t>
            </a:r>
            <a:endParaRPr/>
          </a:p>
        </p:txBody>
      </p:sp>
      <p:sp>
        <p:nvSpPr>
          <p:cNvPr id="193" name="Google Shape;193;p4"/>
          <p:cNvSpPr/>
          <p:nvPr/>
        </p:nvSpPr>
        <p:spPr>
          <a:xfrm>
            <a:off x="822959" y="4288536"/>
            <a:ext cx="48737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4" name="Google Shape;194;p4"/>
          <p:cNvSpPr/>
          <p:nvPr/>
        </p:nvSpPr>
        <p:spPr>
          <a:xfrm>
            <a:off x="822959" y="4398264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Quattrocento Sans"/>
              <a:buNone/>
            </a:pPr>
            <a:r>
              <a:rPr b="0" i="0" lang="en-US" sz="11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it loses</a:t>
            </a:r>
            <a:endParaRPr/>
          </a:p>
        </p:txBody>
      </p:sp>
      <p:sp>
        <p:nvSpPr>
          <p:cNvPr id="195" name="Google Shape;195;p4"/>
          <p:cNvSpPr/>
          <p:nvPr/>
        </p:nvSpPr>
        <p:spPr>
          <a:xfrm>
            <a:off x="2560320" y="4398264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Bad debt: collateral sold too late or too cheap</a:t>
            </a:r>
            <a:endParaRPr/>
          </a:p>
        </p:txBody>
      </p:sp>
      <p:sp>
        <p:nvSpPr>
          <p:cNvPr id="196" name="Google Shape;196;p4"/>
          <p:cNvSpPr/>
          <p:nvPr/>
        </p:nvSpPr>
        <p:spPr>
          <a:xfrm>
            <a:off x="822959" y="4818888"/>
            <a:ext cx="48737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7" name="Google Shape;197;p4"/>
          <p:cNvSpPr/>
          <p:nvPr/>
        </p:nvSpPr>
        <p:spPr>
          <a:xfrm>
            <a:off x="822959" y="4928616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Quattrocento Sans"/>
              <a:buNone/>
            </a:pPr>
            <a:r>
              <a:rPr b="0" i="0" lang="en-US" sz="11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Liquidations are</a:t>
            </a:r>
            <a:endParaRPr/>
          </a:p>
        </p:txBody>
      </p:sp>
      <p:sp>
        <p:nvSpPr>
          <p:cNvPr id="198" name="Google Shape;198;p4"/>
          <p:cNvSpPr/>
          <p:nvPr/>
        </p:nvSpPr>
        <p:spPr>
          <a:xfrm>
            <a:off x="2560320" y="4928616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Its protection</a:t>
            </a:r>
            <a:endParaRPr/>
          </a:p>
        </p:txBody>
      </p:sp>
      <p:sp>
        <p:nvSpPr>
          <p:cNvPr id="199" name="Google Shape;199;p4"/>
          <p:cNvSpPr/>
          <p:nvPr/>
        </p:nvSpPr>
        <p:spPr>
          <a:xfrm>
            <a:off x="822959" y="5349240"/>
            <a:ext cx="48737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00" name="Google Shape;200;p4"/>
          <p:cNvSpPr/>
          <p:nvPr/>
        </p:nvSpPr>
        <p:spPr>
          <a:xfrm>
            <a:off x="822959" y="5458968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Quattrocento Sans"/>
              <a:buNone/>
            </a:pPr>
            <a:r>
              <a:rPr b="0" i="0" lang="en-US" sz="11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 is limited by</a:t>
            </a:r>
            <a:endParaRPr/>
          </a:p>
        </p:txBody>
      </p:sp>
      <p:sp>
        <p:nvSpPr>
          <p:cNvPr id="201" name="Google Shape;201;p4"/>
          <p:cNvSpPr/>
          <p:nvPr/>
        </p:nvSpPr>
        <p:spPr>
          <a:xfrm>
            <a:off x="2560320" y="5458968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Cash nobody has borrowed</a:t>
            </a:r>
            <a:endParaRPr/>
          </a:p>
        </p:txBody>
      </p:sp>
      <p:sp>
        <p:nvSpPr>
          <p:cNvPr id="202" name="Google Shape;202;p4"/>
          <p:cNvSpPr/>
          <p:nvPr/>
        </p:nvSpPr>
        <p:spPr>
          <a:xfrm>
            <a:off x="6217920" y="2057400"/>
            <a:ext cx="5422392" cy="4069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03" name="Google Shape;203;p4"/>
          <p:cNvSpPr/>
          <p:nvPr/>
        </p:nvSpPr>
        <p:spPr>
          <a:xfrm>
            <a:off x="6217920" y="2057400"/>
            <a:ext cx="5422392" cy="73152"/>
          </a:xfrm>
          <a:prstGeom prst="rect">
            <a:avLst/>
          </a:prstGeom>
          <a:solidFill>
            <a:srgbClr val="B4530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04" name="Google Shape;204;p4"/>
          <p:cNvSpPr/>
          <p:nvPr/>
        </p:nvSpPr>
        <p:spPr>
          <a:xfrm>
            <a:off x="6492240" y="2377440"/>
            <a:ext cx="1051560" cy="274320"/>
          </a:xfrm>
          <a:prstGeom prst="roundRect">
            <a:avLst>
              <a:gd fmla="val 6000" name="adj"/>
            </a:avLst>
          </a:prstGeom>
          <a:solidFill>
            <a:srgbClr val="FBF1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05" name="Google Shape;205;p4"/>
          <p:cNvSpPr/>
          <p:nvPr/>
        </p:nvSpPr>
        <p:spPr>
          <a:xfrm>
            <a:off x="6492240" y="2377440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000"/>
              <a:buFont typeface="Quattrocento Sans"/>
              <a:buNone/>
            </a:pPr>
            <a:r>
              <a:rPr b="0" i="0" lang="en-US" sz="1000">
                <a:solidFill>
                  <a:srgbClr val="B4530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BORROWER</a:t>
            </a:r>
            <a:endParaRPr/>
          </a:p>
        </p:txBody>
      </p:sp>
      <p:sp>
        <p:nvSpPr>
          <p:cNvPr id="206" name="Google Shape;206;p4"/>
          <p:cNvSpPr/>
          <p:nvPr/>
        </p:nvSpPr>
        <p:spPr>
          <a:xfrm>
            <a:off x="6492240" y="27889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Quattrocento Sans"/>
              <a:buNone/>
            </a:pPr>
            <a:r>
              <a:rPr b="0" i="0" lang="en-US" sz="16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Posts BTC or a PT, borrows USDC, deploys it</a:t>
            </a:r>
            <a:endParaRPr/>
          </a:p>
        </p:txBody>
      </p:sp>
      <p:sp>
        <p:nvSpPr>
          <p:cNvPr id="207" name="Google Shape;207;p4"/>
          <p:cNvSpPr/>
          <p:nvPr/>
        </p:nvSpPr>
        <p:spPr>
          <a:xfrm>
            <a:off x="6492240" y="333756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Quattrocento Sans"/>
              <a:buNone/>
            </a:pPr>
            <a:r>
              <a:rPr b="0" i="0" lang="en-US" sz="11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it earns</a:t>
            </a:r>
            <a:endParaRPr/>
          </a:p>
        </p:txBody>
      </p:sp>
      <p:sp>
        <p:nvSpPr>
          <p:cNvPr id="208" name="Google Shape;208;p4"/>
          <p:cNvSpPr/>
          <p:nvPr/>
        </p:nvSpPr>
        <p:spPr>
          <a:xfrm>
            <a:off x="8229600" y="33375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Carry: PT yield − borrow rate, levered</a:t>
            </a:r>
            <a:endParaRPr/>
          </a:p>
        </p:txBody>
      </p:sp>
      <p:sp>
        <p:nvSpPr>
          <p:cNvPr id="209" name="Google Shape;209;p4"/>
          <p:cNvSpPr/>
          <p:nvPr/>
        </p:nvSpPr>
        <p:spPr>
          <a:xfrm>
            <a:off x="6492240" y="3758184"/>
            <a:ext cx="48737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10" name="Google Shape;210;p4"/>
          <p:cNvSpPr/>
          <p:nvPr/>
        </p:nvSpPr>
        <p:spPr>
          <a:xfrm>
            <a:off x="6492240" y="3867911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Quattrocento Sans"/>
              <a:buNone/>
            </a:pPr>
            <a:r>
              <a:rPr b="0" i="0" lang="en-US" sz="11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it owns</a:t>
            </a:r>
            <a:endParaRPr/>
          </a:p>
        </p:txBody>
      </p:sp>
      <p:sp>
        <p:nvSpPr>
          <p:cNvPr id="211" name="Google Shape;211;p4"/>
          <p:cNvSpPr/>
          <p:nvPr/>
        </p:nvSpPr>
        <p:spPr>
          <a:xfrm>
            <a:off x="8229600" y="3867911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Collateral + investment − outstanding debt</a:t>
            </a:r>
            <a:endParaRPr/>
          </a:p>
        </p:txBody>
      </p:sp>
      <p:sp>
        <p:nvSpPr>
          <p:cNvPr id="212" name="Google Shape;212;p4"/>
          <p:cNvSpPr/>
          <p:nvPr/>
        </p:nvSpPr>
        <p:spPr>
          <a:xfrm>
            <a:off x="6492240" y="4288536"/>
            <a:ext cx="48737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13" name="Google Shape;213;p4"/>
          <p:cNvSpPr/>
          <p:nvPr/>
        </p:nvSpPr>
        <p:spPr>
          <a:xfrm>
            <a:off x="6492240" y="4398264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Quattrocento Sans"/>
              <a:buNone/>
            </a:pPr>
            <a:r>
              <a:rPr b="0" i="0" lang="en-US" sz="11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it loses</a:t>
            </a:r>
            <a:endParaRPr/>
          </a:p>
        </p:txBody>
      </p:sp>
      <p:sp>
        <p:nvSpPr>
          <p:cNvPr id="214" name="Google Shape;214;p4"/>
          <p:cNvSpPr/>
          <p:nvPr/>
        </p:nvSpPr>
        <p:spPr>
          <a:xfrm>
            <a:off x="8229600" y="4398264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Leverage and its own liquidation</a:t>
            </a:r>
            <a:endParaRPr/>
          </a:p>
        </p:txBody>
      </p:sp>
      <p:sp>
        <p:nvSpPr>
          <p:cNvPr id="215" name="Google Shape;215;p4"/>
          <p:cNvSpPr/>
          <p:nvPr/>
        </p:nvSpPr>
        <p:spPr>
          <a:xfrm>
            <a:off x="6492240" y="4818888"/>
            <a:ext cx="48737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16" name="Google Shape;216;p4"/>
          <p:cNvSpPr/>
          <p:nvPr/>
        </p:nvSpPr>
        <p:spPr>
          <a:xfrm>
            <a:off x="6492240" y="4928616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Quattrocento Sans"/>
              <a:buNone/>
            </a:pPr>
            <a:r>
              <a:rPr b="0" i="0" lang="en-US" sz="11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Liquidations are</a:t>
            </a:r>
            <a:endParaRPr/>
          </a:p>
        </p:txBody>
      </p:sp>
      <p:sp>
        <p:nvSpPr>
          <p:cNvPr id="217" name="Google Shape;217;p4"/>
          <p:cNvSpPr/>
          <p:nvPr/>
        </p:nvSpPr>
        <p:spPr>
          <a:xfrm>
            <a:off x="8229600" y="4928616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Its penalty</a:t>
            </a:r>
            <a:endParaRPr/>
          </a:p>
        </p:txBody>
      </p:sp>
      <p:sp>
        <p:nvSpPr>
          <p:cNvPr id="218" name="Google Shape;218;p4"/>
          <p:cNvSpPr/>
          <p:nvPr/>
        </p:nvSpPr>
        <p:spPr>
          <a:xfrm>
            <a:off x="6492240" y="5349240"/>
            <a:ext cx="48737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19" name="Google Shape;219;p4"/>
          <p:cNvSpPr/>
          <p:nvPr/>
        </p:nvSpPr>
        <p:spPr>
          <a:xfrm>
            <a:off x="6492240" y="5458968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Quattrocento Sans"/>
              <a:buNone/>
            </a:pPr>
            <a:r>
              <a:rPr b="0" i="0" lang="en-US" sz="11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 is limited by</a:t>
            </a:r>
            <a:endParaRPr/>
          </a:p>
        </p:txBody>
      </p:sp>
      <p:sp>
        <p:nvSpPr>
          <p:cNvPr id="220" name="Google Shape;220;p4"/>
          <p:cNvSpPr/>
          <p:nvPr/>
        </p:nvSpPr>
        <p:spPr>
          <a:xfrm>
            <a:off x="8229600" y="5458968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Sale liquidity and repayment needs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"/>
          <p:cNvSpPr/>
          <p:nvPr/>
        </p:nvSpPr>
        <p:spPr>
          <a:xfrm>
            <a:off x="548640" y="566928"/>
            <a:ext cx="292608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7" name="Google Shape;227;p5"/>
          <p:cNvSpPr/>
          <p:nvPr/>
        </p:nvSpPr>
        <p:spPr>
          <a:xfrm>
            <a:off x="932688" y="4754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50"/>
              <a:buFont typeface="Quattrocento Sans"/>
              <a:buNone/>
            </a:pPr>
            <a:r>
              <a:rPr b="0" i="0" lang="en-US" spc="150" sz="105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LIKELY · BAYESIAN</a:t>
            </a:r>
            <a:endParaRPr/>
          </a:p>
        </p:txBody>
      </p:sp>
      <p:sp>
        <p:nvSpPr>
          <p:cNvPr id="228" name="Google Shape;228;p5"/>
          <p:cNvSpPr/>
          <p:nvPr/>
        </p:nvSpPr>
        <p:spPr>
          <a:xfrm>
            <a:off x="548640" y="786384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Quattrocento Sans"/>
              <a:buNone/>
            </a:pPr>
            <a:r>
              <a:rPr b="0" i="0" lang="en-US" sz="28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Probability updated by live evidence</a:t>
            </a:r>
            <a:endParaRPr/>
          </a:p>
        </p:txBody>
      </p:sp>
      <p:sp>
        <p:nvSpPr>
          <p:cNvPr id="229" name="Google Shape;229;p5"/>
          <p:cNvSpPr/>
          <p:nvPr/>
        </p:nvSpPr>
        <p:spPr>
          <a:xfrm>
            <a:off x="548640" y="6382512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30" name="Google Shape;230;p5"/>
          <p:cNvSpPr/>
          <p:nvPr/>
        </p:nvSpPr>
        <p:spPr>
          <a:xfrm>
            <a:off x="548640" y="6455664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0" i="0" lang="en-US" sz="9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Belem Capital  ·  DeFi Risk Dependency Challenge  ·  EPFL 2026</a:t>
            </a:r>
            <a:endParaRPr/>
          </a:p>
        </p:txBody>
      </p:sp>
      <p:sp>
        <p:nvSpPr>
          <p:cNvPr id="231" name="Google Shape;231;p5"/>
          <p:cNvSpPr/>
          <p:nvPr/>
        </p:nvSpPr>
        <p:spPr>
          <a:xfrm>
            <a:off x="10725912" y="645566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0" i="0" lang="en-US" sz="9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 / 10</a:t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2200"/>
              <a:buFont typeface="Quattrocento Sans"/>
              <a:buNone/>
            </a:pPr>
            <a:r>
              <a:rPr b="0" i="0" lang="en-US" sz="22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233" name="Google Shape;233;p5"/>
          <p:cNvSpPr/>
          <p:nvPr/>
        </p:nvSpPr>
        <p:spPr>
          <a:xfrm>
            <a:off x="1005840" y="1709928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Quattrocento Sans"/>
              <a:buNone/>
            </a:pPr>
            <a:r>
              <a:rPr b="0" i="0" lang="en-US" sz="14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Prior from history</a:t>
            </a:r>
            <a:endParaRPr/>
          </a:p>
        </p:txBody>
      </p:sp>
      <p:sp>
        <p:nvSpPr>
          <p:cNvPr id="234" name="Google Shape;234;p5"/>
          <p:cNvSpPr/>
          <p:nvPr/>
        </p:nvSpPr>
        <p:spPr>
          <a:xfrm>
            <a:off x="1005840" y="2039112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Configured failure rates, adjusted for component features.</a:t>
            </a:r>
            <a:endParaRPr/>
          </a:p>
        </p:txBody>
      </p:sp>
      <p:sp>
        <p:nvSpPr>
          <p:cNvPr id="235" name="Google Shape;235;p5"/>
          <p:cNvSpPr/>
          <p:nvPr/>
        </p:nvSpPr>
        <p:spPr>
          <a:xfrm>
            <a:off x="1005840" y="2542032"/>
            <a:ext cx="5394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50"/>
              <a:buFont typeface="Quattrocento Sans"/>
              <a:buNone/>
            </a:pPr>
            <a:r>
              <a:rPr b="0" i="0" lang="en-US" sz="105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Gamma-Poisson model represents uncertainty in the rate.</a:t>
            </a:r>
            <a:endParaRPr/>
          </a:p>
        </p:txBody>
      </p:sp>
      <p:sp>
        <p:nvSpPr>
          <p:cNvPr id="236" name="Google Shape;236;p5"/>
          <p:cNvSpPr/>
          <p:nvPr/>
        </p:nvSpPr>
        <p:spPr>
          <a:xfrm>
            <a:off x="548640" y="31729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2200"/>
              <a:buFont typeface="Quattrocento Sans"/>
              <a:buNone/>
            </a:pPr>
            <a:r>
              <a:rPr b="0" i="0" lang="en-US" sz="22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237" name="Google Shape;237;p5"/>
          <p:cNvSpPr/>
          <p:nvPr/>
        </p:nvSpPr>
        <p:spPr>
          <a:xfrm>
            <a:off x="1005840" y="3191256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Quattrocento Sans"/>
              <a:buNone/>
            </a:pPr>
            <a:r>
              <a:rPr b="0" i="0" lang="en-US" sz="14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Chance within the horizon</a:t>
            </a:r>
            <a:endParaRPr/>
          </a:p>
        </p:txBody>
      </p:sp>
      <p:sp>
        <p:nvSpPr>
          <p:cNvPr id="238" name="Google Shape;238;p5"/>
          <p:cNvSpPr/>
          <p:nvPr/>
        </p:nvSpPr>
        <p:spPr>
          <a:xfrm>
            <a:off x="1005840" y="3520440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Convert the annual rate into a 30-day probability.</a:t>
            </a:r>
            <a:endParaRPr/>
          </a:p>
        </p:txBody>
      </p:sp>
      <p:sp>
        <p:nvSpPr>
          <p:cNvPr id="239" name="Google Shape;239;p5"/>
          <p:cNvSpPr/>
          <p:nvPr/>
        </p:nvSpPr>
        <p:spPr>
          <a:xfrm>
            <a:off x="1005840" y="3822191"/>
            <a:ext cx="5394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50"/>
              <a:buFont typeface="Quattrocento Sans"/>
              <a:buNone/>
            </a:pPr>
            <a:r>
              <a:rPr b="0" i="0" lang="en-US" sz="105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Recent stress temporarily raises related failure rates.</a:t>
            </a:r>
            <a:endParaRPr/>
          </a:p>
        </p:txBody>
      </p:sp>
      <p:sp>
        <p:nvSpPr>
          <p:cNvPr id="240" name="Google Shape;240;p5"/>
          <p:cNvSpPr/>
          <p:nvPr/>
        </p:nvSpPr>
        <p:spPr>
          <a:xfrm>
            <a:off x="548640" y="465429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2200"/>
              <a:buFont typeface="Quattrocento Sans"/>
              <a:buNone/>
            </a:pPr>
            <a:r>
              <a:rPr b="0" i="0" lang="en-US" sz="22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241" name="Google Shape;241;p5"/>
          <p:cNvSpPr/>
          <p:nvPr/>
        </p:nvSpPr>
        <p:spPr>
          <a:xfrm>
            <a:off x="1005840" y="4672583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Quattrocento Sans"/>
              <a:buNone/>
            </a:pPr>
            <a:r>
              <a:rPr b="0" i="0" lang="en-US" sz="14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Update on live signals</a:t>
            </a:r>
            <a:endParaRPr/>
          </a:p>
        </p:txBody>
      </p:sp>
      <p:sp>
        <p:nvSpPr>
          <p:cNvPr id="242" name="Google Shape;242;p5"/>
          <p:cNvSpPr/>
          <p:nvPr/>
        </p:nvSpPr>
        <p:spPr>
          <a:xfrm>
            <a:off x="1005840" y="5001768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Update odds using warning-signal likelihood ratios.</a:t>
            </a:r>
            <a:endParaRPr/>
          </a:p>
        </p:txBody>
      </p:sp>
      <p:sp>
        <p:nvSpPr>
          <p:cNvPr id="243" name="Google Shape;243;p5"/>
          <p:cNvSpPr/>
          <p:nvPr/>
        </p:nvSpPr>
        <p:spPr>
          <a:xfrm>
            <a:off x="1005840" y="5504688"/>
            <a:ext cx="5394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50"/>
              <a:buFont typeface="Quattrocento Sans"/>
              <a:buNone/>
            </a:pPr>
            <a:r>
              <a:rPr b="0" i="0" lang="en-US" sz="105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Likelihood ratios are configured assumptions requiring calibration.</a:t>
            </a:r>
            <a:endParaRPr/>
          </a:p>
        </p:txBody>
      </p:sp>
      <p:sp>
        <p:nvSpPr>
          <p:cNvPr id="244" name="Google Shape;244;p5"/>
          <p:cNvSpPr/>
          <p:nvPr/>
        </p:nvSpPr>
        <p:spPr>
          <a:xfrm>
            <a:off x="6720840" y="1737360"/>
            <a:ext cx="9525" cy="44348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45" name="Google Shape;245;p5"/>
          <p:cNvSpPr/>
          <p:nvPr/>
        </p:nvSpPr>
        <p:spPr>
          <a:xfrm>
            <a:off x="7086600" y="16916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Quattrocento Sans"/>
              <a:buNone/>
            </a:pPr>
            <a:r>
              <a:rPr b="0" i="0" lang="en-US" spc="100" sz="10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EXAMPLE · SYNTHETIC STABLECOIN DEPEG, 30 DAYS</a:t>
            </a:r>
            <a:endParaRPr/>
          </a:p>
        </p:txBody>
      </p:sp>
      <p:sp>
        <p:nvSpPr>
          <p:cNvPr id="246" name="Google Shape;246;p5"/>
          <p:cNvSpPr/>
          <p:nvPr/>
        </p:nvSpPr>
        <p:spPr>
          <a:xfrm>
            <a:off x="7086600" y="21945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Quattrocento Sans"/>
              <a:buNone/>
            </a:pPr>
            <a:r>
              <a:rPr b="0" i="0" lang="en-US" sz="120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Illustrative input: 8 events in 40 token-years</a:t>
            </a:r>
            <a:endParaRPr/>
          </a:p>
        </p:txBody>
      </p:sp>
      <p:sp>
        <p:nvSpPr>
          <p:cNvPr id="247" name="Google Shape;247;p5"/>
          <p:cNvSpPr/>
          <p:nvPr/>
        </p:nvSpPr>
        <p:spPr>
          <a:xfrm>
            <a:off x="7086600" y="2542032"/>
            <a:ext cx="3566160" cy="27432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48" name="Google Shape;248;p5"/>
          <p:cNvSpPr/>
          <p:nvPr/>
        </p:nvSpPr>
        <p:spPr>
          <a:xfrm>
            <a:off x="7086600" y="2542032"/>
            <a:ext cx="199014" cy="274320"/>
          </a:xfrm>
          <a:prstGeom prst="rect">
            <a:avLst/>
          </a:prstGeom>
          <a:solidFill>
            <a:srgbClr val="99C9C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49" name="Google Shape;249;p5"/>
          <p:cNvSpPr/>
          <p:nvPr/>
        </p:nvSpPr>
        <p:spPr>
          <a:xfrm>
            <a:off x="10789920" y="2487168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Quattrocento Sans"/>
              <a:buNone/>
            </a:pPr>
            <a:r>
              <a:rPr b="0" i="0" lang="en-US" sz="16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1.7%</a:t>
            </a:r>
            <a:endParaRPr/>
          </a:p>
        </p:txBody>
      </p:sp>
      <p:sp>
        <p:nvSpPr>
          <p:cNvPr id="250" name="Google Shape;250;p5"/>
          <p:cNvSpPr/>
          <p:nvPr/>
        </p:nvSpPr>
        <p:spPr>
          <a:xfrm>
            <a:off x="7086600" y="31089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Quattrocento Sans"/>
              <a:buNone/>
            </a:pPr>
            <a:r>
              <a:rPr b="0" i="0" lang="en-US" sz="120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Backing held off-chain  (×1.3)</a:t>
            </a:r>
            <a:endParaRPr/>
          </a:p>
        </p:txBody>
      </p:sp>
      <p:sp>
        <p:nvSpPr>
          <p:cNvPr id="251" name="Google Shape;251;p5"/>
          <p:cNvSpPr/>
          <p:nvPr/>
        </p:nvSpPr>
        <p:spPr>
          <a:xfrm>
            <a:off x="7086600" y="3456432"/>
            <a:ext cx="3566160" cy="27432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52" name="Google Shape;252;p5"/>
          <p:cNvSpPr/>
          <p:nvPr/>
        </p:nvSpPr>
        <p:spPr>
          <a:xfrm>
            <a:off x="7086600" y="3456432"/>
            <a:ext cx="257683" cy="274320"/>
          </a:xfrm>
          <a:prstGeom prst="rect">
            <a:avLst/>
          </a:prstGeom>
          <a:solidFill>
            <a:srgbClr val="99C9C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53" name="Google Shape;253;p5"/>
          <p:cNvSpPr/>
          <p:nvPr/>
        </p:nvSpPr>
        <p:spPr>
          <a:xfrm>
            <a:off x="10789920" y="3401568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Quattrocento Sans"/>
              <a:buNone/>
            </a:pPr>
            <a:r>
              <a:rPr b="0" i="0" lang="en-US" sz="16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2.2%</a:t>
            </a:r>
            <a:endParaRPr/>
          </a:p>
        </p:txBody>
      </p:sp>
      <p:sp>
        <p:nvSpPr>
          <p:cNvPr id="254" name="Google Shape;254;p5"/>
          <p:cNvSpPr/>
          <p:nvPr/>
        </p:nvSpPr>
        <p:spPr>
          <a:xfrm>
            <a:off x="7086600" y="40233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Quattrocento Sans"/>
              <a:buNone/>
            </a:pPr>
            <a:r>
              <a:rPr b="0" i="0" lang="en-US" sz="120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 live depeg alert  (LR 20)</a:t>
            </a:r>
            <a:endParaRPr/>
          </a:p>
        </p:txBody>
      </p:sp>
      <p:sp>
        <p:nvSpPr>
          <p:cNvPr id="255" name="Google Shape;255;p5"/>
          <p:cNvSpPr/>
          <p:nvPr/>
        </p:nvSpPr>
        <p:spPr>
          <a:xfrm>
            <a:off x="7086600" y="4370832"/>
            <a:ext cx="3566160" cy="27432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56" name="Google Shape;256;p5"/>
          <p:cNvSpPr/>
          <p:nvPr/>
        </p:nvSpPr>
        <p:spPr>
          <a:xfrm>
            <a:off x="7086600" y="4370832"/>
            <a:ext cx="3566160" cy="27432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57" name="Google Shape;257;p5"/>
          <p:cNvSpPr/>
          <p:nvPr/>
        </p:nvSpPr>
        <p:spPr>
          <a:xfrm>
            <a:off x="10789920" y="4315968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Quattrocento Sans"/>
              <a:buNone/>
            </a:pPr>
            <a:r>
              <a:rPr b="0" i="0" lang="en-US" sz="16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31%</a:t>
            </a:r>
            <a:endParaRPr/>
          </a:p>
        </p:txBody>
      </p:sp>
      <p:sp>
        <p:nvSpPr>
          <p:cNvPr id="258" name="Google Shape;258;p5"/>
          <p:cNvSpPr/>
          <p:nvPr/>
        </p:nvSpPr>
        <p:spPr>
          <a:xfrm>
            <a:off x="7086600" y="5074920"/>
            <a:ext cx="4572000" cy="1051560"/>
          </a:xfrm>
          <a:prstGeom prst="roundRect">
            <a:avLst>
              <a:gd fmla="val 6000" name="adj"/>
            </a:avLst>
          </a:prstGeom>
          <a:solidFill>
            <a:srgbClr val="E6F4F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59" name="Google Shape;259;p5"/>
          <p:cNvSpPr/>
          <p:nvPr/>
        </p:nvSpPr>
        <p:spPr>
          <a:xfrm>
            <a:off x="7269480" y="5138928"/>
            <a:ext cx="4251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Quattrocento Sans"/>
              <a:buNone/>
            </a:pPr>
            <a:r>
              <a:rPr b="0" i="0" lang="en-US" sz="12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Odds updates keep probabilities below 100%.</a:t>
            </a:r>
            <a:br>
              <a:rPr b="0" i="0" lang="en-US" sz="12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model also reports an uncertainty range.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"/>
          <p:cNvSpPr/>
          <p:nvPr/>
        </p:nvSpPr>
        <p:spPr>
          <a:xfrm>
            <a:off x="548640" y="566928"/>
            <a:ext cx="292608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66" name="Google Shape;266;p6"/>
          <p:cNvSpPr/>
          <p:nvPr/>
        </p:nvSpPr>
        <p:spPr>
          <a:xfrm>
            <a:off x="932688" y="4754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50"/>
              <a:buFont typeface="Quattrocento Sans"/>
              <a:buNone/>
            </a:pPr>
            <a:r>
              <a:rPr b="0" i="0" lang="en-US" spc="150" sz="105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BAD · MONTE CARLO · THE LENDER</a:t>
            </a:r>
            <a:endParaRPr/>
          </a:p>
        </p:txBody>
      </p:sp>
      <p:sp>
        <p:nvSpPr>
          <p:cNvPr id="267" name="Google Shape;267;p6"/>
          <p:cNvSpPr/>
          <p:nvPr/>
        </p:nvSpPr>
        <p:spPr>
          <a:xfrm>
            <a:off x="548640" y="786384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Quattrocento Sans"/>
              <a:buNone/>
            </a:pPr>
            <a:r>
              <a:rPr lang="en-US" sz="28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Monte Carlo: </a:t>
            </a:r>
            <a:r>
              <a:rPr b="0" i="0" lang="en-US" sz="28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5,000 possible futures, pushed through the graph</a:t>
            </a:r>
            <a:endParaRPr/>
          </a:p>
        </p:txBody>
      </p:sp>
      <p:sp>
        <p:nvSpPr>
          <p:cNvPr id="268" name="Google Shape;268;p6"/>
          <p:cNvSpPr/>
          <p:nvPr/>
        </p:nvSpPr>
        <p:spPr>
          <a:xfrm>
            <a:off x="548640" y="6382512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69" name="Google Shape;269;p6"/>
          <p:cNvSpPr/>
          <p:nvPr/>
        </p:nvSpPr>
        <p:spPr>
          <a:xfrm>
            <a:off x="548640" y="6455664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0" i="0" lang="en-US" sz="9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Belem Capital  ·  DeFi Risk Dependency Challenge  ·  EPFL 2026</a:t>
            </a:r>
            <a:endParaRPr/>
          </a:p>
        </p:txBody>
      </p:sp>
      <p:sp>
        <p:nvSpPr>
          <p:cNvPr id="270" name="Google Shape;270;p6"/>
          <p:cNvSpPr/>
          <p:nvPr/>
        </p:nvSpPr>
        <p:spPr>
          <a:xfrm>
            <a:off x="10725912" y="645566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0" i="0" lang="en-US" sz="9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 / 10</a:t>
            </a:r>
            <a:endParaRPr/>
          </a:p>
        </p:txBody>
      </p:sp>
      <p:sp>
        <p:nvSpPr>
          <p:cNvPr id="271" name="Google Shape;271;p6"/>
          <p:cNvSpPr/>
          <p:nvPr/>
        </p:nvSpPr>
        <p:spPr>
          <a:xfrm>
            <a:off x="548640" y="1801368"/>
            <a:ext cx="73152" cy="841248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72" name="Google Shape;272;p6"/>
          <p:cNvSpPr/>
          <p:nvPr/>
        </p:nvSpPr>
        <p:spPr>
          <a:xfrm>
            <a:off x="822960" y="1737360"/>
            <a:ext cx="5120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Quattrocento Sans"/>
              <a:buNone/>
            </a:pPr>
            <a:r>
              <a:rPr b="0" i="0" lang="en-US" sz="14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Draw the size of the failure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Quattrocento Sans"/>
              <a:buNone/>
            </a:pPr>
            <a:r>
              <a:rPr b="0" i="0" lang="en-US" sz="11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Sample severity under component-specific assumptions.</a:t>
            </a:r>
            <a:endParaRPr/>
          </a:p>
        </p:txBody>
      </p:sp>
      <p:sp>
        <p:nvSpPr>
          <p:cNvPr id="273" name="Google Shape;273;p6"/>
          <p:cNvSpPr/>
          <p:nvPr/>
        </p:nvSpPr>
        <p:spPr>
          <a:xfrm>
            <a:off x="548640" y="2880360"/>
            <a:ext cx="73152" cy="841248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74" name="Google Shape;274;p6"/>
          <p:cNvSpPr/>
          <p:nvPr/>
        </p:nvSpPr>
        <p:spPr>
          <a:xfrm>
            <a:off x="822960" y="2816352"/>
            <a:ext cx="5120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Quattrocento Sans"/>
              <a:buNone/>
            </a:pPr>
            <a:r>
              <a:rPr b="0" i="0" lang="en-US" sz="14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Pass the damage along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Quattrocento Sans"/>
              <a:buNone/>
            </a:pPr>
            <a:r>
              <a:rPr b="0" i="0" lang="en-US" sz="11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Propagate damage through dependency relationships.</a:t>
            </a:r>
            <a:endParaRPr/>
          </a:p>
        </p:txBody>
      </p:sp>
      <p:sp>
        <p:nvSpPr>
          <p:cNvPr id="275" name="Google Shape;275;p6"/>
          <p:cNvSpPr/>
          <p:nvPr/>
        </p:nvSpPr>
        <p:spPr>
          <a:xfrm>
            <a:off x="548640" y="3959352"/>
            <a:ext cx="73152" cy="841248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76" name="Google Shape;276;p6"/>
          <p:cNvSpPr/>
          <p:nvPr/>
        </p:nvSpPr>
        <p:spPr>
          <a:xfrm>
            <a:off x="822960" y="3895344"/>
            <a:ext cx="5120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Quattrocento Sans"/>
              <a:buNone/>
            </a:pPr>
            <a:r>
              <a:rPr b="0" i="0" lang="en-US" sz="14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Track what the oracle sees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Quattrocento Sans"/>
              <a:buNone/>
            </a:pPr>
            <a:r>
              <a:rPr b="0" i="0" lang="en-US" sz="11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 price errors, stale feeds and execution delays.</a:t>
            </a:r>
            <a:endParaRPr/>
          </a:p>
        </p:txBody>
      </p:sp>
      <p:sp>
        <p:nvSpPr>
          <p:cNvPr id="277" name="Google Shape;277;p6"/>
          <p:cNvSpPr/>
          <p:nvPr/>
        </p:nvSpPr>
        <p:spPr>
          <a:xfrm>
            <a:off x="548640" y="5038344"/>
            <a:ext cx="73152" cy="841248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78" name="Google Shape;278;p6"/>
          <p:cNvSpPr/>
          <p:nvPr/>
        </p:nvSpPr>
        <p:spPr>
          <a:xfrm>
            <a:off x="822960" y="4974336"/>
            <a:ext cx="5120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Quattrocento Sans"/>
              <a:buNone/>
            </a:pPr>
            <a:r>
              <a:rPr b="0" i="0" lang="en-US" sz="14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Read the distribution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Quattrocento Sans"/>
              <a:buNone/>
            </a:pPr>
            <a:r>
              <a:rPr b="0" i="0" lang="en-US" sz="11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Mean, median and 95th-percentile conditional losses.</a:t>
            </a:r>
            <a:endParaRPr/>
          </a:p>
        </p:txBody>
      </p:sp>
      <p:sp>
        <p:nvSpPr>
          <p:cNvPr id="279" name="Google Shape;279;p6"/>
          <p:cNvSpPr/>
          <p:nvPr/>
        </p:nvSpPr>
        <p:spPr>
          <a:xfrm>
            <a:off x="6263640" y="1737360"/>
            <a:ext cx="9525" cy="44348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80" name="Google Shape;280;p6"/>
          <p:cNvSpPr/>
          <p:nvPr/>
        </p:nvSpPr>
        <p:spPr>
          <a:xfrm>
            <a:off x="6629400" y="16916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Quattrocento Sans"/>
              <a:buNone/>
            </a:pPr>
            <a:r>
              <a:rPr b="0" i="0" lang="en-US" spc="100" sz="10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LENDER LOSS  ·  NON-LINEAR</a:t>
            </a:r>
            <a:endParaRPr/>
          </a:p>
        </p:txBody>
      </p:sp>
      <p:sp>
        <p:nvSpPr>
          <p:cNvPr id="281" name="Google Shape;281;p6"/>
          <p:cNvSpPr/>
          <p:nvPr/>
        </p:nvSpPr>
        <p:spPr>
          <a:xfrm>
            <a:off x="6629400" y="201168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Collateral buffers absorb smaller shocks.</a:t>
            </a:r>
            <a:endParaRPr/>
          </a:p>
        </p:txBody>
      </p:sp>
      <p:sp>
        <p:nvSpPr>
          <p:cNvPr id="282" name="Google Shape;282;p6"/>
          <p:cNvSpPr/>
          <p:nvPr/>
        </p:nvSpPr>
        <p:spPr>
          <a:xfrm>
            <a:off x="6629400" y="2487168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Uncovered debt drives lender loss, scaled by borrowed exposure.</a:t>
            </a:r>
            <a:endParaRPr/>
          </a:p>
        </p:txBody>
      </p:sp>
      <p:sp>
        <p:nvSpPr>
          <p:cNvPr id="283" name="Google Shape;283;p6"/>
          <p:cNvSpPr/>
          <p:nvPr/>
        </p:nvSpPr>
        <p:spPr>
          <a:xfrm>
            <a:off x="6629400" y="2990088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50"/>
              <a:buFont typeface="Quattrocento Sans"/>
              <a:buNone/>
            </a:pPr>
            <a:r>
              <a:rPr b="0" i="0" lang="en-US" sz="105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 80% LTV, a 40% collateral drop leaves 25% of debt uncovered before mitigation.</a:t>
            </a:r>
            <a:endParaRPr/>
          </a:p>
        </p:txBody>
      </p:sp>
      <p:sp>
        <p:nvSpPr>
          <p:cNvPr id="284" name="Google Shape;284;p6"/>
          <p:cNvSpPr/>
          <p:nvPr/>
        </p:nvSpPr>
        <p:spPr>
          <a:xfrm>
            <a:off x="6629400" y="365760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Modeled example: 40% PT decline, 90% utilization</a:t>
            </a:r>
            <a:endParaRPr/>
          </a:p>
        </p:txBody>
      </p:sp>
      <p:sp>
        <p:nvSpPr>
          <p:cNvPr id="285" name="Google Shape;285;p6"/>
          <p:cNvSpPr/>
          <p:nvPr/>
        </p:nvSpPr>
        <p:spPr>
          <a:xfrm>
            <a:off x="6629400" y="40690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Quattrocento Sans"/>
              <a:buNone/>
            </a:pPr>
            <a:r>
              <a:rPr b="0" i="0" lang="en-US" sz="115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Oracle sees the drop → liquidators save ~55%</a:t>
            </a:r>
            <a:endParaRPr/>
          </a:p>
        </p:txBody>
      </p:sp>
      <p:sp>
        <p:nvSpPr>
          <p:cNvPr id="286" name="Google Shape;286;p6"/>
          <p:cNvSpPr/>
          <p:nvPr/>
        </p:nvSpPr>
        <p:spPr>
          <a:xfrm>
            <a:off x="6629400" y="4389120"/>
            <a:ext cx="3931920" cy="27432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87" name="Google Shape;287;p6"/>
          <p:cNvSpPr/>
          <p:nvPr/>
        </p:nvSpPr>
        <p:spPr>
          <a:xfrm>
            <a:off x="6629400" y="4389120"/>
            <a:ext cx="1554895" cy="274320"/>
          </a:xfrm>
          <a:prstGeom prst="rect">
            <a:avLst/>
          </a:prstGeom>
          <a:solidFill>
            <a:srgbClr val="99C9C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88" name="Google Shape;288;p6"/>
          <p:cNvSpPr/>
          <p:nvPr/>
        </p:nvSpPr>
        <p:spPr>
          <a:xfrm>
            <a:off x="10698480" y="4334256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Quattrocento Sans"/>
              <a:buNone/>
            </a:pPr>
            <a:r>
              <a:rPr b="0" i="0" lang="en-US" sz="16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8.7%</a:t>
            </a:r>
            <a:endParaRPr/>
          </a:p>
        </p:txBody>
      </p:sp>
      <p:sp>
        <p:nvSpPr>
          <p:cNvPr id="289" name="Google Shape;289;p6"/>
          <p:cNvSpPr/>
          <p:nvPr/>
        </p:nvSpPr>
        <p:spPr>
          <a:xfrm>
            <a:off x="6629400" y="493776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Quattrocento Sans"/>
              <a:buNone/>
            </a:pPr>
            <a:r>
              <a:rPr b="0" i="0" lang="en-US" sz="115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Oracle blind to it → nobody liquidated</a:t>
            </a:r>
            <a:endParaRPr/>
          </a:p>
        </p:txBody>
      </p:sp>
      <p:sp>
        <p:nvSpPr>
          <p:cNvPr id="290" name="Google Shape;290;p6"/>
          <p:cNvSpPr/>
          <p:nvPr/>
        </p:nvSpPr>
        <p:spPr>
          <a:xfrm>
            <a:off x="6629400" y="5257800"/>
            <a:ext cx="3931920" cy="27432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91" name="Google Shape;291;p6"/>
          <p:cNvSpPr/>
          <p:nvPr/>
        </p:nvSpPr>
        <p:spPr>
          <a:xfrm>
            <a:off x="6629400" y="5257800"/>
            <a:ext cx="3931920" cy="27432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92" name="Google Shape;292;p6"/>
          <p:cNvSpPr/>
          <p:nvPr/>
        </p:nvSpPr>
        <p:spPr>
          <a:xfrm>
            <a:off x="10698480" y="5202936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Quattrocento Sans"/>
              <a:buNone/>
            </a:pPr>
            <a:r>
              <a:rPr b="0" i="0" lang="en-US" sz="16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22%</a:t>
            </a:r>
            <a:endParaRPr/>
          </a:p>
        </p:txBody>
      </p:sp>
      <p:sp>
        <p:nvSpPr>
          <p:cNvPr id="293" name="Google Shape;293;p6"/>
          <p:cNvSpPr/>
          <p:nvPr/>
        </p:nvSpPr>
        <p:spPr>
          <a:xfrm>
            <a:off x="6629400" y="585216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Quattrocento Sans"/>
              <a:buNone/>
            </a:pPr>
            <a:r>
              <a:rPr b="0" i="0" lang="en-US" sz="12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About 2.5× more modeled loss with a blind oracle.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7"/>
          <p:cNvSpPr/>
          <p:nvPr/>
        </p:nvSpPr>
        <p:spPr>
          <a:xfrm>
            <a:off x="548640" y="566928"/>
            <a:ext cx="292608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00" name="Google Shape;300;p7"/>
          <p:cNvSpPr/>
          <p:nvPr/>
        </p:nvSpPr>
        <p:spPr>
          <a:xfrm>
            <a:off x="932688" y="4754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50"/>
              <a:buFont typeface="Quattrocento Sans"/>
              <a:buNone/>
            </a:pPr>
            <a:r>
              <a:rPr b="0" i="0" lang="en-US" spc="150" sz="105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BAD · THE BORROWER</a:t>
            </a:r>
            <a:endParaRPr/>
          </a:p>
        </p:txBody>
      </p:sp>
      <p:sp>
        <p:nvSpPr>
          <p:cNvPr id="301" name="Google Shape;301;p7"/>
          <p:cNvSpPr/>
          <p:nvPr/>
        </p:nvSpPr>
        <p:spPr>
          <a:xfrm>
            <a:off x="548640" y="786384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Quattrocento Sans"/>
              <a:buNone/>
            </a:pPr>
            <a:r>
              <a:rPr b="0" i="0" lang="en-US" sz="28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Leverage turns small drops into large losses</a:t>
            </a:r>
            <a:endParaRPr/>
          </a:p>
        </p:txBody>
      </p:sp>
      <p:sp>
        <p:nvSpPr>
          <p:cNvPr id="302" name="Google Shape;302;p7"/>
          <p:cNvSpPr/>
          <p:nvPr/>
        </p:nvSpPr>
        <p:spPr>
          <a:xfrm>
            <a:off x="548640" y="6382512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03" name="Google Shape;303;p7"/>
          <p:cNvSpPr/>
          <p:nvPr/>
        </p:nvSpPr>
        <p:spPr>
          <a:xfrm>
            <a:off x="548640" y="6455664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0" i="0" lang="en-US" sz="9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Belem Capital  ·  DeFi Risk Dependency Challenge  ·  EPFL 2026</a:t>
            </a:r>
            <a:endParaRPr/>
          </a:p>
        </p:txBody>
      </p:sp>
      <p:sp>
        <p:nvSpPr>
          <p:cNvPr id="304" name="Google Shape;304;p7"/>
          <p:cNvSpPr/>
          <p:nvPr/>
        </p:nvSpPr>
        <p:spPr>
          <a:xfrm>
            <a:off x="10725912" y="645566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0" i="0" lang="en-US" sz="9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 / 10</a:t>
            </a:r>
            <a:endParaRPr/>
          </a:p>
        </p:txBody>
      </p:sp>
      <p:sp>
        <p:nvSpPr>
          <p:cNvPr id="305" name="Google Shape;305;p7"/>
          <p:cNvSpPr/>
          <p:nvPr/>
        </p:nvSpPr>
        <p:spPr>
          <a:xfrm>
            <a:off x="548640" y="169164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000"/>
              <a:buFont typeface="Quattrocento Sans"/>
              <a:buNone/>
            </a:pPr>
            <a:r>
              <a:rPr b="0" i="0" lang="en-US" spc="100" sz="1000">
                <a:solidFill>
                  <a:srgbClr val="B4530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 $1 OF THE CLIENT’S EQUITY</a:t>
            </a:r>
            <a:endParaRPr/>
          </a:p>
        </p:txBody>
      </p:sp>
      <p:sp>
        <p:nvSpPr>
          <p:cNvPr id="306" name="Google Shape;306;p7"/>
          <p:cNvSpPr/>
          <p:nvPr/>
        </p:nvSpPr>
        <p:spPr>
          <a:xfrm>
            <a:off x="548640" y="205740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Loop balance sheet</a:t>
            </a:r>
            <a:endParaRPr/>
          </a:p>
        </p:txBody>
      </p:sp>
      <p:sp>
        <p:nvSpPr>
          <p:cNvPr id="307" name="Google Shape;307;p7"/>
          <p:cNvSpPr/>
          <p:nvPr/>
        </p:nvSpPr>
        <p:spPr>
          <a:xfrm>
            <a:off x="548640" y="2331720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Quattrocento Sans"/>
              <a:buNone/>
            </a:pPr>
            <a:r>
              <a:rPr b="0" i="0" lang="en-US" sz="12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Repeated borrowing increases PT exposure and debt.</a:t>
            </a:r>
            <a:endParaRPr/>
          </a:p>
        </p:txBody>
      </p:sp>
      <p:sp>
        <p:nvSpPr>
          <p:cNvPr id="308" name="Google Shape;308;p7"/>
          <p:cNvSpPr/>
          <p:nvPr/>
        </p:nvSpPr>
        <p:spPr>
          <a:xfrm>
            <a:off x="548640" y="2624328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50"/>
              <a:buFont typeface="Quattrocento Sans"/>
              <a:buNone/>
            </a:pPr>
            <a:r>
              <a:rPr b="0" i="0" lang="en-US" sz="105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 80% LTV: $1 equity supports $5 PT and $4 debt.</a:t>
            </a:r>
            <a:endParaRPr/>
          </a:p>
        </p:txBody>
      </p:sp>
      <p:sp>
        <p:nvSpPr>
          <p:cNvPr id="309" name="Google Shape;309;p7"/>
          <p:cNvSpPr/>
          <p:nvPr/>
        </p:nvSpPr>
        <p:spPr>
          <a:xfrm>
            <a:off x="548640" y="3081528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Equity after a shock</a:t>
            </a:r>
            <a:endParaRPr/>
          </a:p>
        </p:txBody>
      </p:sp>
      <p:sp>
        <p:nvSpPr>
          <p:cNvPr id="310" name="Google Shape;310;p7"/>
          <p:cNvSpPr/>
          <p:nvPr/>
        </p:nvSpPr>
        <p:spPr>
          <a:xfrm>
            <a:off x="548640" y="3355848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Quattrocento Sans"/>
              <a:buNone/>
            </a:pPr>
            <a:r>
              <a:rPr b="0" i="0" lang="en-US" sz="12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Equity = remaining asset value − outstanding debt.</a:t>
            </a:r>
            <a:endParaRPr/>
          </a:p>
        </p:txBody>
      </p:sp>
      <p:sp>
        <p:nvSpPr>
          <p:cNvPr id="311" name="Google Shape;311;p7"/>
          <p:cNvSpPr/>
          <p:nvPr/>
        </p:nvSpPr>
        <p:spPr>
          <a:xfrm>
            <a:off x="548640" y="3648456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50"/>
              <a:buFont typeface="Quattrocento Sans"/>
              <a:buNone/>
            </a:pPr>
            <a:r>
              <a:rPr b="0" i="0" lang="en-US" sz="105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Asset losses hit equity first. Debt-token prices also matter.</a:t>
            </a:r>
            <a:endParaRPr/>
          </a:p>
        </p:txBody>
      </p:sp>
      <p:sp>
        <p:nvSpPr>
          <p:cNvPr id="312" name="Google Shape;312;p7"/>
          <p:cNvSpPr/>
          <p:nvPr/>
        </p:nvSpPr>
        <p:spPr>
          <a:xfrm>
            <a:off x="548640" y="4105656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Liquidated when</a:t>
            </a:r>
            <a:endParaRPr/>
          </a:p>
        </p:txBody>
      </p:sp>
      <p:sp>
        <p:nvSpPr>
          <p:cNvPr id="313" name="Google Shape;313;p7"/>
          <p:cNvSpPr/>
          <p:nvPr/>
        </p:nvSpPr>
        <p:spPr>
          <a:xfrm>
            <a:off x="548640" y="4379976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Quattrocento Sans"/>
              <a:buNone/>
            </a:pPr>
            <a:r>
              <a:rPr b="0" i="0" lang="en-US" sz="12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Liquidation depends on oracle-valued collateral versus debt.</a:t>
            </a:r>
            <a:endParaRPr/>
          </a:p>
        </p:txBody>
      </p:sp>
      <p:sp>
        <p:nvSpPr>
          <p:cNvPr id="314" name="Google Shape;314;p7"/>
          <p:cNvSpPr/>
          <p:nvPr/>
        </p:nvSpPr>
        <p:spPr>
          <a:xfrm>
            <a:off x="548640" y="4672584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50"/>
              <a:buFont typeface="Quattrocento Sans"/>
              <a:buNone/>
            </a:pPr>
            <a:r>
              <a:rPr b="0" i="0" lang="en-US" sz="105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low oracle price can trigger liquidation without a market decline.</a:t>
            </a:r>
            <a:endParaRPr/>
          </a:p>
        </p:txBody>
      </p:sp>
      <p:sp>
        <p:nvSpPr>
          <p:cNvPr id="315" name="Google Shape;315;p7"/>
          <p:cNvSpPr/>
          <p:nvPr/>
        </p:nvSpPr>
        <p:spPr>
          <a:xfrm>
            <a:off x="548640" y="5129784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Chance of liquidation within the horizon</a:t>
            </a:r>
            <a:endParaRPr/>
          </a:p>
        </p:txBody>
      </p:sp>
      <p:sp>
        <p:nvSpPr>
          <p:cNvPr id="316" name="Google Shape;316;p7"/>
          <p:cNvSpPr/>
          <p:nvPr/>
        </p:nvSpPr>
        <p:spPr>
          <a:xfrm>
            <a:off x="548640" y="5404104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Quattrocento Sans"/>
              <a:buNone/>
            </a:pPr>
            <a:r>
              <a:rPr b="0" i="0" lang="en-US" sz="12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Estimate the probability of crossing the liquidation threshold.</a:t>
            </a:r>
            <a:endParaRPr/>
          </a:p>
        </p:txBody>
      </p:sp>
      <p:sp>
        <p:nvSpPr>
          <p:cNvPr id="317" name="Google Shape;317;p7"/>
          <p:cNvSpPr/>
          <p:nvPr/>
        </p:nvSpPr>
        <p:spPr>
          <a:xfrm>
            <a:off x="548640" y="5696712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50"/>
              <a:buFont typeface="Quattrocento Sans"/>
              <a:buNone/>
            </a:pPr>
            <a:r>
              <a:rPr b="0" i="0" lang="en-US" sz="105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Uses the path over the horizon, not just its final price.</a:t>
            </a:r>
            <a:endParaRPr/>
          </a:p>
        </p:txBody>
      </p:sp>
      <p:sp>
        <p:nvSpPr>
          <p:cNvPr id="318" name="Google Shape;318;p7"/>
          <p:cNvSpPr/>
          <p:nvPr/>
        </p:nvSpPr>
        <p:spPr>
          <a:xfrm>
            <a:off x="6263640" y="1737360"/>
            <a:ext cx="9525" cy="44348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19" name="Google Shape;319;p7"/>
          <p:cNvSpPr/>
          <p:nvPr/>
        </p:nvSpPr>
        <p:spPr>
          <a:xfrm>
            <a:off x="6629400" y="1737360"/>
            <a:ext cx="5010912" cy="1325880"/>
          </a:xfrm>
          <a:prstGeom prst="roundRect">
            <a:avLst>
              <a:gd fmla="val 6000" name="adj"/>
            </a:avLst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20" name="Google Shape;320;p7"/>
          <p:cNvSpPr/>
          <p:nvPr/>
        </p:nvSpPr>
        <p:spPr>
          <a:xfrm>
            <a:off x="6858000" y="1828800"/>
            <a:ext cx="1600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3400"/>
              <a:buFont typeface="Quattrocento Sans"/>
              <a:buNone/>
            </a:pPr>
            <a:r>
              <a:rPr b="0" i="0" lang="en-US" sz="3400">
                <a:solidFill>
                  <a:srgbClr val="B4530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25%</a:t>
            </a:r>
            <a:endParaRPr/>
          </a:p>
        </p:txBody>
      </p:sp>
      <p:sp>
        <p:nvSpPr>
          <p:cNvPr id="321" name="Google Shape;321;p7"/>
          <p:cNvSpPr/>
          <p:nvPr/>
        </p:nvSpPr>
        <p:spPr>
          <a:xfrm>
            <a:off x="8503920" y="1901952"/>
            <a:ext cx="2971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Quattrocento Sans"/>
              <a:buNone/>
            </a:pPr>
            <a:r>
              <a:rPr b="0" i="0" lang="en-US" sz="13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equity lost on a 5% PT drop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Quattrocento Sans"/>
              <a:buNone/>
            </a:pPr>
            <a:r>
              <a:rPr b="0" i="0" lang="en-US" sz="10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5× loop: $5 of PT falls to $4.75; minus $4 of debt leaves $0.75 of each $1</a:t>
            </a:r>
            <a:endParaRPr/>
          </a:p>
        </p:txBody>
      </p:sp>
      <p:sp>
        <p:nvSpPr>
          <p:cNvPr id="322" name="Google Shape;322;p7"/>
          <p:cNvSpPr/>
          <p:nvPr/>
        </p:nvSpPr>
        <p:spPr>
          <a:xfrm>
            <a:off x="6629400" y="3227832"/>
            <a:ext cx="5010912" cy="1325880"/>
          </a:xfrm>
          <a:prstGeom prst="roundRect">
            <a:avLst>
              <a:gd fmla="val 6000" name="adj"/>
            </a:avLst>
          </a:prstGeom>
          <a:solidFill>
            <a:srgbClr val="FBF1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23" name="Google Shape;323;p7"/>
          <p:cNvSpPr/>
          <p:nvPr/>
        </p:nvSpPr>
        <p:spPr>
          <a:xfrm>
            <a:off x="6858000" y="3319272"/>
            <a:ext cx="1600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3400"/>
              <a:buFont typeface="Quattrocento Sans"/>
              <a:buNone/>
            </a:pPr>
            <a:r>
              <a:rPr b="0" i="0" lang="en-US" sz="3400">
                <a:solidFill>
                  <a:srgbClr val="B4530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62%</a:t>
            </a:r>
            <a:endParaRPr/>
          </a:p>
        </p:txBody>
      </p:sp>
      <p:sp>
        <p:nvSpPr>
          <p:cNvPr id="324" name="Google Shape;324;p7"/>
          <p:cNvSpPr/>
          <p:nvPr/>
        </p:nvSpPr>
        <p:spPr>
          <a:xfrm>
            <a:off x="8503920" y="3392424"/>
            <a:ext cx="2971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Quattrocento Sans"/>
              <a:buNone/>
            </a:pPr>
            <a:r>
              <a:rPr b="0" i="0" lang="en-US" sz="13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lost with no real price move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Quattrocento Sans"/>
              <a:buNone/>
            </a:pPr>
            <a:r>
              <a:rPr b="0" i="0" lang="en-US" sz="10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Oracle under-prices by 15%: liquidated, and the liquidator takes real value at the low price</a:t>
            </a:r>
            <a:endParaRPr/>
          </a:p>
        </p:txBody>
      </p:sp>
      <p:sp>
        <p:nvSpPr>
          <p:cNvPr id="325" name="Google Shape;325;p7"/>
          <p:cNvSpPr/>
          <p:nvPr/>
        </p:nvSpPr>
        <p:spPr>
          <a:xfrm>
            <a:off x="6629400" y="4718304"/>
            <a:ext cx="5010912" cy="1325880"/>
          </a:xfrm>
          <a:prstGeom prst="roundRect">
            <a:avLst>
              <a:gd fmla="val 6000" name="adj"/>
            </a:avLst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26" name="Google Shape;326;p7"/>
          <p:cNvSpPr/>
          <p:nvPr/>
        </p:nvSpPr>
        <p:spPr>
          <a:xfrm>
            <a:off x="6858000" y="4809744"/>
            <a:ext cx="1600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3400"/>
              <a:buFont typeface="Quattrocento Sans"/>
              <a:buNone/>
            </a:pPr>
            <a:r>
              <a:rPr b="0" i="0" lang="en-US" sz="3400">
                <a:solidFill>
                  <a:srgbClr val="B4530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2.1%</a:t>
            </a:r>
            <a:endParaRPr/>
          </a:p>
        </p:txBody>
      </p:sp>
      <p:sp>
        <p:nvSpPr>
          <p:cNvPr id="327" name="Google Shape;327;p7"/>
          <p:cNvSpPr/>
          <p:nvPr/>
        </p:nvSpPr>
        <p:spPr>
          <a:xfrm>
            <a:off x="8503920" y="4882896"/>
            <a:ext cx="2971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Quattrocento Sans"/>
              <a:buNone/>
            </a:pPr>
            <a:r>
              <a:rPr b="0" i="0" lang="en-US" sz="13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chance of liquidation in 30 days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Quattrocento Sans"/>
              <a:buNone/>
            </a:pPr>
            <a:r>
              <a:rPr b="0" i="0" lang="en-US" sz="10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Snapshot estimate: 7.6× borrower, 5.2% from the threshold.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8"/>
          <p:cNvSpPr/>
          <p:nvPr/>
        </p:nvSpPr>
        <p:spPr>
          <a:xfrm>
            <a:off x="548640" y="566928"/>
            <a:ext cx="292608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34" name="Google Shape;334;p8"/>
          <p:cNvSpPr/>
          <p:nvPr/>
        </p:nvSpPr>
        <p:spPr>
          <a:xfrm>
            <a:off x="932688" y="4754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50"/>
              <a:buFont typeface="Quattrocento Sans"/>
              <a:buNone/>
            </a:pPr>
            <a:r>
              <a:rPr b="0" i="0" lang="en-US" spc="150" sz="105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LENDER VS BORROWER</a:t>
            </a:r>
            <a:endParaRPr/>
          </a:p>
        </p:txBody>
      </p:sp>
      <p:sp>
        <p:nvSpPr>
          <p:cNvPr id="335" name="Google Shape;335;p8"/>
          <p:cNvSpPr/>
          <p:nvPr/>
        </p:nvSpPr>
        <p:spPr>
          <a:xfrm>
            <a:off x="548640" y="786384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Quattrocento Sans"/>
              <a:buNone/>
            </a:pPr>
            <a:r>
              <a:rPr b="0" i="0" lang="en-US" sz="28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Same event, opposite effect</a:t>
            </a:r>
            <a:endParaRPr/>
          </a:p>
        </p:txBody>
      </p:sp>
      <p:sp>
        <p:nvSpPr>
          <p:cNvPr id="336" name="Google Shape;336;p8"/>
          <p:cNvSpPr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Quattrocento Sans"/>
              <a:buNone/>
            </a:pPr>
            <a:r>
              <a:rPr b="0" i="0" lang="en-US" sz="14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 the engine flips its conservative assumptions depending on which side Belem is on.</a:t>
            </a:r>
            <a:endParaRPr/>
          </a:p>
        </p:txBody>
      </p:sp>
      <p:sp>
        <p:nvSpPr>
          <p:cNvPr id="337" name="Google Shape;337;p8"/>
          <p:cNvSpPr/>
          <p:nvPr/>
        </p:nvSpPr>
        <p:spPr>
          <a:xfrm>
            <a:off x="548640" y="6382512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38" name="Google Shape;338;p8"/>
          <p:cNvSpPr/>
          <p:nvPr/>
        </p:nvSpPr>
        <p:spPr>
          <a:xfrm>
            <a:off x="548640" y="6455664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0" i="0" lang="en-US" sz="9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Belem Capital  ·  DeFi Risk Dependency Challenge  ·  EPFL 2026</a:t>
            </a:r>
            <a:endParaRPr/>
          </a:p>
        </p:txBody>
      </p:sp>
      <p:sp>
        <p:nvSpPr>
          <p:cNvPr id="339" name="Google Shape;339;p8"/>
          <p:cNvSpPr/>
          <p:nvPr/>
        </p:nvSpPr>
        <p:spPr>
          <a:xfrm>
            <a:off x="10725912" y="645566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0" i="0" lang="en-US" sz="9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08 / 10</a:t>
            </a:r>
            <a:endParaRPr/>
          </a:p>
        </p:txBody>
      </p:sp>
      <p:sp>
        <p:nvSpPr>
          <p:cNvPr id="340" name="Google Shape;340;p8"/>
          <p:cNvSpPr/>
          <p:nvPr/>
        </p:nvSpPr>
        <p:spPr>
          <a:xfrm>
            <a:off x="4343400" y="21031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50"/>
              <a:buFont typeface="Quattrocento Sans"/>
              <a:buNone/>
            </a:pPr>
            <a:r>
              <a:rPr b="0" i="0" lang="en-US" spc="120" sz="105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LENDER</a:t>
            </a:r>
            <a:endParaRPr/>
          </a:p>
        </p:txBody>
      </p:sp>
      <p:sp>
        <p:nvSpPr>
          <p:cNvPr id="341" name="Google Shape;341;p8"/>
          <p:cNvSpPr/>
          <p:nvPr/>
        </p:nvSpPr>
        <p:spPr>
          <a:xfrm>
            <a:off x="8001000" y="210312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050"/>
              <a:buFont typeface="Quattrocento Sans"/>
              <a:buNone/>
            </a:pPr>
            <a:r>
              <a:rPr b="0" i="0" lang="en-US" spc="120" sz="1050">
                <a:solidFill>
                  <a:srgbClr val="B4530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BORROWER</a:t>
            </a:r>
            <a:endParaRPr/>
          </a:p>
        </p:txBody>
      </p:sp>
      <p:sp>
        <p:nvSpPr>
          <p:cNvPr id="342" name="Google Shape;342;p8"/>
          <p:cNvSpPr/>
          <p:nvPr/>
        </p:nvSpPr>
        <p:spPr>
          <a:xfrm>
            <a:off x="548640" y="2450591"/>
            <a:ext cx="11091672" cy="127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43" name="Google Shape;343;p8"/>
          <p:cNvSpPr/>
          <p:nvPr/>
        </p:nvSpPr>
        <p:spPr>
          <a:xfrm>
            <a:off x="548640" y="256032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Oracle shows the price too high</a:t>
            </a:r>
            <a:endParaRPr/>
          </a:p>
        </p:txBody>
      </p:sp>
      <p:sp>
        <p:nvSpPr>
          <p:cNvPr id="344" name="Google Shape;344;p8"/>
          <p:cNvSpPr/>
          <p:nvPr/>
        </p:nvSpPr>
        <p:spPr>
          <a:xfrm>
            <a:off x="4343400" y="2633472"/>
            <a:ext cx="91440" cy="91440"/>
          </a:xfrm>
          <a:prstGeom prst="rect">
            <a:avLst/>
          </a:prstGeom>
          <a:solidFill>
            <a:srgbClr val="B91C1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45" name="Google Shape;345;p8"/>
          <p:cNvSpPr/>
          <p:nvPr/>
        </p:nvSpPr>
        <p:spPr>
          <a:xfrm>
            <a:off x="4572000" y="256032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Hurts: over-borrowing drains the pool</a:t>
            </a:r>
            <a:endParaRPr/>
          </a:p>
        </p:txBody>
      </p:sp>
      <p:sp>
        <p:nvSpPr>
          <p:cNvPr id="346" name="Google Shape;346;p8"/>
          <p:cNvSpPr/>
          <p:nvPr/>
        </p:nvSpPr>
        <p:spPr>
          <a:xfrm>
            <a:off x="8001000" y="2633472"/>
            <a:ext cx="91440" cy="91440"/>
          </a:xfrm>
          <a:prstGeom prst="rect">
            <a:avLst/>
          </a:prstGeom>
          <a:solidFill>
            <a:srgbClr val="15803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47" name="Google Shape;347;p8"/>
          <p:cNvSpPr/>
          <p:nvPr/>
        </p:nvSpPr>
        <p:spPr>
          <a:xfrm>
            <a:off x="8229600" y="256032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delay liquidation; exposure remains</a:t>
            </a:r>
            <a:endParaRPr/>
          </a:p>
        </p:txBody>
      </p:sp>
      <p:sp>
        <p:nvSpPr>
          <p:cNvPr id="348" name="Google Shape;348;p8"/>
          <p:cNvSpPr/>
          <p:nvPr/>
        </p:nvSpPr>
        <p:spPr>
          <a:xfrm>
            <a:off x="548640" y="2990087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49" name="Google Shape;349;p8"/>
          <p:cNvSpPr/>
          <p:nvPr/>
        </p:nvSpPr>
        <p:spPr>
          <a:xfrm>
            <a:off x="548640" y="3099815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Oracle shows the price too low</a:t>
            </a:r>
            <a:endParaRPr/>
          </a:p>
        </p:txBody>
      </p:sp>
      <p:sp>
        <p:nvSpPr>
          <p:cNvPr id="350" name="Google Shape;350;p8"/>
          <p:cNvSpPr/>
          <p:nvPr/>
        </p:nvSpPr>
        <p:spPr>
          <a:xfrm>
            <a:off x="4343400" y="3172968"/>
            <a:ext cx="91440" cy="91440"/>
          </a:xfrm>
          <a:prstGeom prst="rect">
            <a:avLst/>
          </a:prstGeom>
          <a:solidFill>
            <a:srgbClr val="15803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51" name="Google Shape;351;p8"/>
          <p:cNvSpPr/>
          <p:nvPr/>
        </p:nvSpPr>
        <p:spPr>
          <a:xfrm>
            <a:off x="4572000" y="3099815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accelerate liquidation</a:t>
            </a:r>
            <a:endParaRPr/>
          </a:p>
        </p:txBody>
      </p:sp>
      <p:sp>
        <p:nvSpPr>
          <p:cNvPr id="352" name="Google Shape;352;p8"/>
          <p:cNvSpPr/>
          <p:nvPr/>
        </p:nvSpPr>
        <p:spPr>
          <a:xfrm>
            <a:off x="8001000" y="3172968"/>
            <a:ext cx="91440" cy="91440"/>
          </a:xfrm>
          <a:prstGeom prst="rect">
            <a:avLst/>
          </a:prstGeom>
          <a:solidFill>
            <a:srgbClr val="B91C1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53" name="Google Shape;353;p8"/>
          <p:cNvSpPr/>
          <p:nvPr/>
        </p:nvSpPr>
        <p:spPr>
          <a:xfrm>
            <a:off x="8229600" y="3099815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Hurts: wrongful liquidation</a:t>
            </a:r>
            <a:endParaRPr/>
          </a:p>
        </p:txBody>
      </p:sp>
      <p:sp>
        <p:nvSpPr>
          <p:cNvPr id="354" name="Google Shape;354;p8"/>
          <p:cNvSpPr/>
          <p:nvPr/>
        </p:nvSpPr>
        <p:spPr>
          <a:xfrm>
            <a:off x="548640" y="3529583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55" name="Google Shape;355;p8"/>
          <p:cNvSpPr/>
          <p:nvPr/>
        </p:nvSpPr>
        <p:spPr>
          <a:xfrm>
            <a:off x="548640" y="3639311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Oracle ignores the market price</a:t>
            </a:r>
            <a:endParaRPr/>
          </a:p>
        </p:txBody>
      </p:sp>
      <p:sp>
        <p:nvSpPr>
          <p:cNvPr id="356" name="Google Shape;356;p8"/>
          <p:cNvSpPr/>
          <p:nvPr/>
        </p:nvSpPr>
        <p:spPr>
          <a:xfrm>
            <a:off x="4343400" y="3712463"/>
            <a:ext cx="91440" cy="91440"/>
          </a:xfrm>
          <a:prstGeom prst="rect">
            <a:avLst/>
          </a:prstGeom>
          <a:solidFill>
            <a:srgbClr val="B91C1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57" name="Google Shape;357;p8"/>
          <p:cNvSpPr/>
          <p:nvPr/>
        </p:nvSpPr>
        <p:spPr>
          <a:xfrm>
            <a:off x="4572000" y="3639311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Hurts: no liquidations, bad debt</a:t>
            </a:r>
            <a:endParaRPr/>
          </a:p>
        </p:txBody>
      </p:sp>
      <p:sp>
        <p:nvSpPr>
          <p:cNvPr id="358" name="Google Shape;358;p8"/>
          <p:cNvSpPr/>
          <p:nvPr/>
        </p:nvSpPr>
        <p:spPr>
          <a:xfrm>
            <a:off x="8001000" y="3712463"/>
            <a:ext cx="91440" cy="91440"/>
          </a:xfrm>
          <a:prstGeom prst="rect">
            <a:avLst/>
          </a:prstGeom>
          <a:solidFill>
            <a:srgbClr val="15803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59" name="Google Shape;359;p8"/>
          <p:cNvSpPr/>
          <p:nvPr/>
        </p:nvSpPr>
        <p:spPr>
          <a:xfrm>
            <a:off x="8229600" y="3639311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delay liquidation; losses remain</a:t>
            </a:r>
            <a:endParaRPr/>
          </a:p>
        </p:txBody>
      </p:sp>
      <p:sp>
        <p:nvSpPr>
          <p:cNvPr id="360" name="Google Shape;360;p8"/>
          <p:cNvSpPr/>
          <p:nvPr/>
        </p:nvSpPr>
        <p:spPr>
          <a:xfrm>
            <a:off x="548640" y="4069079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61" name="Google Shape;361;p8"/>
          <p:cNvSpPr/>
          <p:nvPr/>
        </p:nvSpPr>
        <p:spPr>
          <a:xfrm>
            <a:off x="548640" y="417880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Oracle type unknown, assume it…</a:t>
            </a:r>
            <a:endParaRPr/>
          </a:p>
        </p:txBody>
      </p:sp>
      <p:sp>
        <p:nvSpPr>
          <p:cNvPr id="362" name="Google Shape;362;p8"/>
          <p:cNvSpPr/>
          <p:nvPr/>
        </p:nvSpPr>
        <p:spPr>
          <a:xfrm>
            <a:off x="4343400" y="4251960"/>
            <a:ext cx="91440" cy="91440"/>
          </a:xfrm>
          <a:prstGeom prst="rect">
            <a:avLst/>
          </a:prstGeom>
          <a:solidFill>
            <a:srgbClr val="64748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63" name="Google Shape;363;p8"/>
          <p:cNvSpPr/>
          <p:nvPr/>
        </p:nvSpPr>
        <p:spPr>
          <a:xfrm>
            <a:off x="4572000" y="4178808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…does not track (worse for lender)</a:t>
            </a:r>
            <a:endParaRPr/>
          </a:p>
        </p:txBody>
      </p:sp>
      <p:sp>
        <p:nvSpPr>
          <p:cNvPr id="364" name="Google Shape;364;p8"/>
          <p:cNvSpPr/>
          <p:nvPr/>
        </p:nvSpPr>
        <p:spPr>
          <a:xfrm>
            <a:off x="8001000" y="4251960"/>
            <a:ext cx="91440" cy="91440"/>
          </a:xfrm>
          <a:prstGeom prst="rect">
            <a:avLst/>
          </a:prstGeom>
          <a:solidFill>
            <a:srgbClr val="64748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65" name="Google Shape;365;p8"/>
          <p:cNvSpPr/>
          <p:nvPr/>
        </p:nvSpPr>
        <p:spPr>
          <a:xfrm>
            <a:off x="8229600" y="4178808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…tracks (worse for borrower)</a:t>
            </a:r>
            <a:endParaRPr/>
          </a:p>
        </p:txBody>
      </p:sp>
      <p:sp>
        <p:nvSpPr>
          <p:cNvPr id="366" name="Google Shape;366;p8"/>
          <p:cNvSpPr/>
          <p:nvPr/>
        </p:nvSpPr>
        <p:spPr>
          <a:xfrm>
            <a:off x="548640" y="4608576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67" name="Google Shape;367;p8"/>
          <p:cNvSpPr/>
          <p:nvPr/>
        </p:nvSpPr>
        <p:spPr>
          <a:xfrm>
            <a:off x="548640" y="4718304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USDC loses its peg</a:t>
            </a:r>
            <a:endParaRPr/>
          </a:p>
        </p:txBody>
      </p:sp>
      <p:sp>
        <p:nvSpPr>
          <p:cNvPr id="368" name="Google Shape;368;p8"/>
          <p:cNvSpPr/>
          <p:nvPr/>
        </p:nvSpPr>
        <p:spPr>
          <a:xfrm>
            <a:off x="4343400" y="4791456"/>
            <a:ext cx="91440" cy="91440"/>
          </a:xfrm>
          <a:prstGeom prst="rect">
            <a:avLst/>
          </a:prstGeom>
          <a:solidFill>
            <a:srgbClr val="B91C1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69" name="Google Shape;369;p8"/>
          <p:cNvSpPr/>
          <p:nvPr/>
        </p:nvSpPr>
        <p:spPr>
          <a:xfrm>
            <a:off x="4572000" y="4718304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Hurts: Belem holds USDC</a:t>
            </a:r>
            <a:endParaRPr/>
          </a:p>
        </p:txBody>
      </p:sp>
      <p:sp>
        <p:nvSpPr>
          <p:cNvPr id="370" name="Google Shape;370;p8"/>
          <p:cNvSpPr/>
          <p:nvPr/>
        </p:nvSpPr>
        <p:spPr>
          <a:xfrm>
            <a:off x="8001000" y="4791456"/>
            <a:ext cx="91440" cy="91440"/>
          </a:xfrm>
          <a:prstGeom prst="rect">
            <a:avLst/>
          </a:prstGeom>
          <a:solidFill>
            <a:srgbClr val="15803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71" name="Google Shape;371;p8"/>
          <p:cNvSpPr/>
          <p:nvPr/>
        </p:nvSpPr>
        <p:spPr>
          <a:xfrm>
            <a:off x="8229600" y="4718304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 reduce USD debt value; net effect varies</a:t>
            </a:r>
            <a:endParaRPr/>
          </a:p>
        </p:txBody>
      </p:sp>
      <p:sp>
        <p:nvSpPr>
          <p:cNvPr id="372" name="Google Shape;372;p8"/>
          <p:cNvSpPr/>
          <p:nvPr/>
        </p:nvSpPr>
        <p:spPr>
          <a:xfrm>
            <a:off x="548640" y="5148072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73" name="Google Shape;373;p8"/>
          <p:cNvSpPr/>
          <p:nvPr/>
        </p:nvSpPr>
        <p:spPr>
          <a:xfrm>
            <a:off x="548640" y="525780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Yield credited for staying</a:t>
            </a:r>
            <a:endParaRPr/>
          </a:p>
        </p:txBody>
      </p:sp>
      <p:sp>
        <p:nvSpPr>
          <p:cNvPr id="374" name="Google Shape;374;p8"/>
          <p:cNvSpPr/>
          <p:nvPr/>
        </p:nvSpPr>
        <p:spPr>
          <a:xfrm>
            <a:off x="4343400" y="5330952"/>
            <a:ext cx="91440" cy="91440"/>
          </a:xfrm>
          <a:prstGeom prst="rect">
            <a:avLst/>
          </a:prstGeom>
          <a:solidFill>
            <a:srgbClr val="64748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75" name="Google Shape;375;p8"/>
          <p:cNvSpPr/>
          <p:nvPr/>
        </p:nvSpPr>
        <p:spPr>
          <a:xfrm>
            <a:off x="4572000" y="525780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Supply APY yield credit</a:t>
            </a:r>
            <a:endParaRPr/>
          </a:p>
        </p:txBody>
      </p:sp>
      <p:sp>
        <p:nvSpPr>
          <p:cNvPr id="376" name="Google Shape;376;p8"/>
          <p:cNvSpPr/>
          <p:nvPr/>
        </p:nvSpPr>
        <p:spPr>
          <a:xfrm>
            <a:off x="8001000" y="5330952"/>
            <a:ext cx="91440" cy="91440"/>
          </a:xfrm>
          <a:prstGeom prst="rect">
            <a:avLst/>
          </a:prstGeom>
          <a:solidFill>
            <a:srgbClr val="64748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77" name="Google Shape;377;p8"/>
          <p:cNvSpPr/>
          <p:nvPr/>
        </p:nvSpPr>
        <p:spPr>
          <a:xfrm>
            <a:off x="8229600" y="525780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 carry, can be negative</a:t>
            </a:r>
            <a:endParaRPr/>
          </a:p>
        </p:txBody>
      </p:sp>
      <p:sp>
        <p:nvSpPr>
          <p:cNvPr id="378" name="Google Shape;378;p8"/>
          <p:cNvSpPr/>
          <p:nvPr/>
        </p:nvSpPr>
        <p:spPr>
          <a:xfrm>
            <a:off x="548640" y="5687568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79" name="Google Shape;379;p8"/>
          <p:cNvSpPr/>
          <p:nvPr/>
        </p:nvSpPr>
        <p:spPr>
          <a:xfrm>
            <a:off x="548640" y="5797296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 fails because…</a:t>
            </a:r>
            <a:endParaRPr/>
          </a:p>
        </p:txBody>
      </p:sp>
      <p:sp>
        <p:nvSpPr>
          <p:cNvPr id="380" name="Google Shape;380;p8"/>
          <p:cNvSpPr/>
          <p:nvPr/>
        </p:nvSpPr>
        <p:spPr>
          <a:xfrm>
            <a:off x="4343400" y="5870448"/>
            <a:ext cx="91440" cy="91440"/>
          </a:xfrm>
          <a:prstGeom prst="rect">
            <a:avLst/>
          </a:prstGeom>
          <a:solidFill>
            <a:srgbClr val="64748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81" name="Google Shape;381;p8"/>
          <p:cNvSpPr/>
          <p:nvPr/>
        </p:nvSpPr>
        <p:spPr>
          <a:xfrm>
            <a:off x="4572000" y="5797296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Cash is lent out: can’t withdraw</a:t>
            </a:r>
            <a:endParaRPr/>
          </a:p>
        </p:txBody>
      </p:sp>
      <p:sp>
        <p:nvSpPr>
          <p:cNvPr id="382" name="Google Shape;382;p8"/>
          <p:cNvSpPr/>
          <p:nvPr/>
        </p:nvSpPr>
        <p:spPr>
          <a:xfrm>
            <a:off x="8001000" y="5870448"/>
            <a:ext cx="91440" cy="91440"/>
          </a:xfrm>
          <a:prstGeom prst="rect">
            <a:avLst/>
          </a:prstGeom>
          <a:solidFill>
            <a:srgbClr val="64748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83" name="Google Shape;383;p8"/>
          <p:cNvSpPr/>
          <p:nvPr/>
        </p:nvSpPr>
        <p:spPr>
          <a:xfrm>
            <a:off x="8229600" y="5797296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PT pool too thin: sale too costly</a:t>
            </a:r>
            <a:endParaRPr/>
          </a:p>
        </p:txBody>
      </p:sp>
      <p:sp>
        <p:nvSpPr>
          <p:cNvPr id="384" name="Google Shape;384;p8"/>
          <p:cNvSpPr/>
          <p:nvPr/>
        </p:nvSpPr>
        <p:spPr>
          <a:xfrm>
            <a:off x="548640" y="6227064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9"/>
          <p:cNvSpPr/>
          <p:nvPr/>
        </p:nvSpPr>
        <p:spPr>
          <a:xfrm>
            <a:off x="548640" y="566928"/>
            <a:ext cx="292608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91" name="Google Shape;391;p9"/>
          <p:cNvSpPr/>
          <p:nvPr/>
        </p:nvSpPr>
        <p:spPr>
          <a:xfrm>
            <a:off x="932688" y="4754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50"/>
              <a:buFont typeface="Quattrocento Sans"/>
              <a:buNone/>
            </a:pPr>
            <a:r>
              <a:rPr b="0" i="0" lang="en-US" spc="150" sz="105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DECISION · RECORDED DATA, 11 OCT 2026</a:t>
            </a:r>
            <a:endParaRPr/>
          </a:p>
        </p:txBody>
      </p:sp>
      <p:sp>
        <p:nvSpPr>
          <p:cNvPr id="392" name="Google Shape;392;p9"/>
          <p:cNvSpPr/>
          <p:nvPr/>
        </p:nvSpPr>
        <p:spPr>
          <a:xfrm>
            <a:off x="548640" y="786384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Quattrocento Sans"/>
              <a:buNone/>
            </a:pPr>
            <a:r>
              <a:rPr b="0" i="0" lang="en-US" sz="28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verdict, net of what staying earns</a:t>
            </a:r>
            <a:endParaRPr/>
          </a:p>
        </p:txBody>
      </p:sp>
      <p:sp>
        <p:nvSpPr>
          <p:cNvPr id="393" name="Google Shape;393;p9"/>
          <p:cNvSpPr/>
          <p:nvPr/>
        </p:nvSpPr>
        <p:spPr>
          <a:xfrm>
            <a:off x="548640" y="6382512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94" name="Google Shape;394;p9"/>
          <p:cNvSpPr/>
          <p:nvPr/>
        </p:nvSpPr>
        <p:spPr>
          <a:xfrm>
            <a:off x="548640" y="6455664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0" i="0" lang="en-US" sz="9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Belem Capital  ·  DeFi Risk Dependency Challenge  ·  EPFL 2026</a:t>
            </a:r>
            <a:endParaRPr/>
          </a:p>
        </p:txBody>
      </p:sp>
      <p:sp>
        <p:nvSpPr>
          <p:cNvPr id="395" name="Google Shape;395;p9"/>
          <p:cNvSpPr/>
          <p:nvPr/>
        </p:nvSpPr>
        <p:spPr>
          <a:xfrm>
            <a:off x="10725912" y="645566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0" i="0" lang="en-US" sz="9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09 / 10</a:t>
            </a:r>
            <a:endParaRPr/>
          </a:p>
        </p:txBody>
      </p:sp>
      <p:sp>
        <p:nvSpPr>
          <p:cNvPr id="396" name="Google Shape;396;p9"/>
          <p:cNvSpPr/>
          <p:nvPr/>
        </p:nvSpPr>
        <p:spPr>
          <a:xfrm>
            <a:off x="548640" y="1600200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Quattrocento Sans"/>
              <a:buNone/>
            </a:pPr>
            <a:r>
              <a:rPr b="0" i="0" lang="en-US" sz="17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 when the loss we can still avoid, minus the yield we give up, beats the cost of leaving</a:t>
            </a:r>
            <a:endParaRPr/>
          </a:p>
        </p:txBody>
      </p:sp>
      <p:sp>
        <p:nvSpPr>
          <p:cNvPr id="397" name="Google Shape;397;p9"/>
          <p:cNvSpPr/>
          <p:nvPr/>
        </p:nvSpPr>
        <p:spPr>
          <a:xfrm>
            <a:off x="548640" y="2103120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Quattrocento Sans"/>
              <a:buNone/>
            </a:pPr>
            <a:r>
              <a:rPr b="0" i="0" lang="en-US" sz="11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Compare avoidable expected loss, forgone yield and exit cost. Missing required inputs produce REVIEW.</a:t>
            </a:r>
            <a:endParaRPr/>
          </a:p>
        </p:txBody>
      </p:sp>
      <p:sp>
        <p:nvSpPr>
          <p:cNvPr id="398" name="Google Shape;398;p9"/>
          <p:cNvSpPr/>
          <p:nvPr/>
        </p:nvSpPr>
        <p:spPr>
          <a:xfrm>
            <a:off x="548640" y="2651760"/>
            <a:ext cx="3538728" cy="3520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99" name="Google Shape;399;p9"/>
          <p:cNvSpPr/>
          <p:nvPr/>
        </p:nvSpPr>
        <p:spPr>
          <a:xfrm>
            <a:off x="548640" y="2651760"/>
            <a:ext cx="3538728" cy="73152"/>
          </a:xfrm>
          <a:prstGeom prst="rect">
            <a:avLst/>
          </a:prstGeom>
          <a:solidFill>
            <a:srgbClr val="B91C1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00" name="Google Shape;400;p9"/>
          <p:cNvSpPr/>
          <p:nvPr/>
        </p:nvSpPr>
        <p:spPr>
          <a:xfrm>
            <a:off x="804672" y="292608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Quattrocento Sans"/>
              <a:buNone/>
            </a:pPr>
            <a:r>
              <a:rPr b="0" i="0" lang="en-US" sz="14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 BTC → USDC → PT</a:t>
            </a:r>
            <a:endParaRPr/>
          </a:p>
        </p:txBody>
      </p:sp>
      <p:sp>
        <p:nvSpPr>
          <p:cNvPr id="401" name="Google Shape;401;p9"/>
          <p:cNvSpPr/>
          <p:nvPr/>
        </p:nvSpPr>
        <p:spPr>
          <a:xfrm>
            <a:off x="3127248" y="2898648"/>
            <a:ext cx="731520" cy="27432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952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02" name="Google Shape;402;p9"/>
          <p:cNvSpPr/>
          <p:nvPr/>
        </p:nvSpPr>
        <p:spPr>
          <a:xfrm>
            <a:off x="3127248" y="289864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100"/>
              <a:buFont typeface="Quattrocento Sans"/>
              <a:buNone/>
            </a:pPr>
            <a:r>
              <a:rPr b="0" i="0" lang="en-US" sz="1100">
                <a:solidFill>
                  <a:srgbClr val="B91C1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</a:t>
            </a:r>
            <a:endParaRPr/>
          </a:p>
        </p:txBody>
      </p:sp>
      <p:sp>
        <p:nvSpPr>
          <p:cNvPr id="403" name="Google Shape;403;p9"/>
          <p:cNvSpPr/>
          <p:nvPr/>
        </p:nvSpPr>
        <p:spPr>
          <a:xfrm>
            <a:off x="804672" y="361188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Quattrocento Sans"/>
              <a:buNone/>
            </a:pPr>
            <a:r>
              <a:rPr b="0" i="0" lang="en-US" sz="12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Health factor</a:t>
            </a:r>
            <a:endParaRPr/>
          </a:p>
        </p:txBody>
      </p:sp>
      <p:sp>
        <p:nvSpPr>
          <p:cNvPr id="404" name="Google Shape;404;p9"/>
          <p:cNvSpPr/>
          <p:nvPr/>
        </p:nvSpPr>
        <p:spPr>
          <a:xfrm>
            <a:off x="2331720" y="3611880"/>
            <a:ext cx="14996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Quattrocento Sans"/>
              <a:buNone/>
            </a:pPr>
            <a:r>
              <a:rPr b="0" i="0" lang="en-US" sz="14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2.15</a:t>
            </a:r>
            <a:endParaRPr/>
          </a:p>
        </p:txBody>
      </p:sp>
      <p:sp>
        <p:nvSpPr>
          <p:cNvPr id="405" name="Google Shape;405;p9"/>
          <p:cNvSpPr/>
          <p:nvPr/>
        </p:nvSpPr>
        <p:spPr>
          <a:xfrm>
            <a:off x="804672" y="3995928"/>
            <a:ext cx="30266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06" name="Google Shape;406;p9"/>
          <p:cNvSpPr/>
          <p:nvPr/>
        </p:nvSpPr>
        <p:spPr>
          <a:xfrm>
            <a:off x="804672" y="406908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Quattrocento Sans"/>
              <a:buNone/>
            </a:pPr>
            <a:r>
              <a:rPr b="0" i="0" lang="en-US" sz="12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Drop to liquidation</a:t>
            </a:r>
            <a:endParaRPr/>
          </a:p>
        </p:txBody>
      </p:sp>
      <p:sp>
        <p:nvSpPr>
          <p:cNvPr id="407" name="Google Shape;407;p9"/>
          <p:cNvSpPr/>
          <p:nvPr/>
        </p:nvSpPr>
        <p:spPr>
          <a:xfrm>
            <a:off x="2331720" y="4069080"/>
            <a:ext cx="14996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Quattrocento Sans"/>
              <a:buNone/>
            </a:pPr>
            <a:r>
              <a:rPr b="0" i="0" lang="en-US" sz="14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53%</a:t>
            </a:r>
            <a:endParaRPr/>
          </a:p>
        </p:txBody>
      </p:sp>
      <p:sp>
        <p:nvSpPr>
          <p:cNvPr id="408" name="Google Shape;408;p9"/>
          <p:cNvSpPr/>
          <p:nvPr/>
        </p:nvSpPr>
        <p:spPr>
          <a:xfrm>
            <a:off x="804672" y="4453128"/>
            <a:ext cx="30266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09" name="Google Shape;409;p9"/>
          <p:cNvSpPr/>
          <p:nvPr/>
        </p:nvSpPr>
        <p:spPr>
          <a:xfrm>
            <a:off x="804672" y="452628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Quattrocento Sans"/>
              <a:buNone/>
            </a:pPr>
            <a:r>
              <a:rPr b="0" i="0" lang="en-US" sz="12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 carry</a:t>
            </a:r>
            <a:endParaRPr/>
          </a:p>
        </p:txBody>
      </p:sp>
      <p:sp>
        <p:nvSpPr>
          <p:cNvPr id="410" name="Google Shape;410;p9"/>
          <p:cNvSpPr/>
          <p:nvPr/>
        </p:nvSpPr>
        <p:spPr>
          <a:xfrm>
            <a:off x="2331720" y="4526280"/>
            <a:ext cx="14996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Quattrocento Sans"/>
              <a:buNone/>
            </a:pPr>
            <a:r>
              <a:rPr b="0" i="0" lang="en-US" sz="14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≈ 0% a year</a:t>
            </a:r>
            <a:endParaRPr/>
          </a:p>
        </p:txBody>
      </p:sp>
      <p:sp>
        <p:nvSpPr>
          <p:cNvPr id="411" name="Google Shape;411;p9"/>
          <p:cNvSpPr/>
          <p:nvPr/>
        </p:nvSpPr>
        <p:spPr>
          <a:xfrm>
            <a:off x="804672" y="4910328"/>
            <a:ext cx="30266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12" name="Google Shape;412;p9"/>
          <p:cNvSpPr/>
          <p:nvPr/>
        </p:nvSpPr>
        <p:spPr>
          <a:xfrm>
            <a:off x="804672" y="5074920"/>
            <a:ext cx="3063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Quattrocento Sans"/>
              <a:buNone/>
            </a:pPr>
            <a:r>
              <a:rPr b="0" i="0" lang="en-US" sz="120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PT yield 5.01%, borrowing 5.00%.</a:t>
            </a:r>
            <a:br>
              <a:rPr b="0" i="0" lang="en-US" sz="120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Little carry against 0.8% modeled expected loss.</a:t>
            </a:r>
            <a:endParaRPr/>
          </a:p>
        </p:txBody>
      </p:sp>
      <p:sp>
        <p:nvSpPr>
          <p:cNvPr id="413" name="Google Shape;413;p9"/>
          <p:cNvSpPr/>
          <p:nvPr/>
        </p:nvSpPr>
        <p:spPr>
          <a:xfrm>
            <a:off x="4325112" y="2651760"/>
            <a:ext cx="3538728" cy="3520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14" name="Google Shape;414;p9"/>
          <p:cNvSpPr/>
          <p:nvPr/>
        </p:nvSpPr>
        <p:spPr>
          <a:xfrm>
            <a:off x="4325112" y="2651760"/>
            <a:ext cx="3538728" cy="73152"/>
          </a:xfrm>
          <a:prstGeom prst="rect">
            <a:avLst/>
          </a:prstGeom>
          <a:solidFill>
            <a:srgbClr val="B4530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15" name="Google Shape;415;p9"/>
          <p:cNvSpPr/>
          <p:nvPr/>
        </p:nvSpPr>
        <p:spPr>
          <a:xfrm>
            <a:off x="4581144" y="292608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Quattrocento Sans"/>
              <a:buNone/>
            </a:pPr>
            <a:r>
              <a:rPr b="0" i="0" lang="en-US" sz="14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PT-sUSDe loop, $1M at 5×</a:t>
            </a:r>
            <a:endParaRPr/>
          </a:p>
        </p:txBody>
      </p:sp>
      <p:sp>
        <p:nvSpPr>
          <p:cNvPr id="416" name="Google Shape;416;p9"/>
          <p:cNvSpPr/>
          <p:nvPr/>
        </p:nvSpPr>
        <p:spPr>
          <a:xfrm>
            <a:off x="6903719" y="2898648"/>
            <a:ext cx="731520" cy="27432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9525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17" name="Google Shape;417;p9"/>
          <p:cNvSpPr/>
          <p:nvPr/>
        </p:nvSpPr>
        <p:spPr>
          <a:xfrm>
            <a:off x="6903719" y="289864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100"/>
              <a:buFont typeface="Quattrocento Sans"/>
              <a:buNone/>
            </a:pPr>
            <a:r>
              <a:rPr b="0" i="0" lang="en-US" sz="1100">
                <a:solidFill>
                  <a:srgbClr val="B4530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STAY</a:t>
            </a:r>
            <a:endParaRPr/>
          </a:p>
        </p:txBody>
      </p:sp>
      <p:sp>
        <p:nvSpPr>
          <p:cNvPr id="418" name="Google Shape;418;p9"/>
          <p:cNvSpPr/>
          <p:nvPr/>
        </p:nvSpPr>
        <p:spPr>
          <a:xfrm>
            <a:off x="4581144" y="361188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Quattrocento Sans"/>
              <a:buNone/>
            </a:pPr>
            <a:r>
              <a:rPr b="0" i="0" lang="en-US" sz="12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Health factor</a:t>
            </a:r>
            <a:endParaRPr/>
          </a:p>
        </p:txBody>
      </p:sp>
      <p:sp>
        <p:nvSpPr>
          <p:cNvPr id="419" name="Google Shape;419;p9"/>
          <p:cNvSpPr/>
          <p:nvPr/>
        </p:nvSpPr>
        <p:spPr>
          <a:xfrm>
            <a:off x="6108192" y="3611880"/>
            <a:ext cx="14996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Quattrocento Sans"/>
              <a:buNone/>
            </a:pPr>
            <a:r>
              <a:rPr b="0" i="0" lang="en-US" sz="14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1.14</a:t>
            </a:r>
            <a:endParaRPr/>
          </a:p>
        </p:txBody>
      </p:sp>
      <p:sp>
        <p:nvSpPr>
          <p:cNvPr id="420" name="Google Shape;420;p9"/>
          <p:cNvSpPr/>
          <p:nvPr/>
        </p:nvSpPr>
        <p:spPr>
          <a:xfrm>
            <a:off x="4581144" y="3995928"/>
            <a:ext cx="30266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21" name="Google Shape;421;p9"/>
          <p:cNvSpPr/>
          <p:nvPr/>
        </p:nvSpPr>
        <p:spPr>
          <a:xfrm>
            <a:off x="4581144" y="406908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Quattrocento Sans"/>
              <a:buNone/>
            </a:pPr>
            <a:r>
              <a:rPr b="0" i="0" lang="en-US" sz="12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Drop to liquidation</a:t>
            </a:r>
            <a:endParaRPr/>
          </a:p>
        </p:txBody>
      </p:sp>
      <p:sp>
        <p:nvSpPr>
          <p:cNvPr id="422" name="Google Shape;422;p9"/>
          <p:cNvSpPr/>
          <p:nvPr/>
        </p:nvSpPr>
        <p:spPr>
          <a:xfrm>
            <a:off x="6108192" y="4069080"/>
            <a:ext cx="14996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Quattrocento Sans"/>
              <a:buNone/>
            </a:pPr>
            <a:r>
              <a:rPr b="0" i="0" lang="en-US" sz="14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12.6%</a:t>
            </a:r>
            <a:endParaRPr/>
          </a:p>
        </p:txBody>
      </p:sp>
      <p:sp>
        <p:nvSpPr>
          <p:cNvPr id="423" name="Google Shape;423;p9"/>
          <p:cNvSpPr/>
          <p:nvPr/>
        </p:nvSpPr>
        <p:spPr>
          <a:xfrm>
            <a:off x="4581144" y="4453128"/>
            <a:ext cx="30266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24" name="Google Shape;424;p9"/>
          <p:cNvSpPr/>
          <p:nvPr/>
        </p:nvSpPr>
        <p:spPr>
          <a:xfrm>
            <a:off x="4581144" y="452628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Quattrocento Sans"/>
              <a:buNone/>
            </a:pPr>
            <a:r>
              <a:rPr b="0" i="0" lang="en-US" sz="12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 carry</a:t>
            </a:r>
            <a:endParaRPr/>
          </a:p>
        </p:txBody>
      </p:sp>
      <p:sp>
        <p:nvSpPr>
          <p:cNvPr id="425" name="Google Shape;425;p9"/>
          <p:cNvSpPr/>
          <p:nvPr/>
        </p:nvSpPr>
        <p:spPr>
          <a:xfrm>
            <a:off x="6108192" y="4526280"/>
            <a:ext cx="14996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Quattrocento Sans"/>
              <a:buNone/>
            </a:pPr>
            <a:r>
              <a:rPr b="0" i="0" lang="en-US" sz="14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≈ 10% a year</a:t>
            </a:r>
            <a:endParaRPr/>
          </a:p>
        </p:txBody>
      </p:sp>
      <p:sp>
        <p:nvSpPr>
          <p:cNvPr id="426" name="Google Shape;426;p9"/>
          <p:cNvSpPr/>
          <p:nvPr/>
        </p:nvSpPr>
        <p:spPr>
          <a:xfrm>
            <a:off x="4581144" y="4910328"/>
            <a:ext cx="30266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27" name="Google Shape;427;p9"/>
          <p:cNvSpPr/>
          <p:nvPr/>
        </p:nvSpPr>
        <p:spPr>
          <a:xfrm>
            <a:off x="4581144" y="5074920"/>
            <a:ext cx="3063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Quattrocento Sans"/>
              <a:buNone/>
            </a:pPr>
            <a:r>
              <a:rPr b="0" i="0" lang="en-US" sz="120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STAY reflects costly execution.</a:t>
            </a:r>
            <a:br>
              <a:rPr b="0" i="0" lang="en-US" sz="120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$5M PT exposure versus a ~$3.8M pool.</a:t>
            </a:r>
            <a:endParaRPr/>
          </a:p>
        </p:txBody>
      </p:sp>
      <p:sp>
        <p:nvSpPr>
          <p:cNvPr id="428" name="Google Shape;428;p9"/>
          <p:cNvSpPr/>
          <p:nvPr/>
        </p:nvSpPr>
        <p:spPr>
          <a:xfrm>
            <a:off x="8101583" y="2651760"/>
            <a:ext cx="3538728" cy="3520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29" name="Google Shape;429;p9"/>
          <p:cNvSpPr/>
          <p:nvPr/>
        </p:nvSpPr>
        <p:spPr>
          <a:xfrm>
            <a:off x="8101583" y="2651760"/>
            <a:ext cx="3538728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30" name="Google Shape;430;p9"/>
          <p:cNvSpPr/>
          <p:nvPr/>
        </p:nvSpPr>
        <p:spPr>
          <a:xfrm>
            <a:off x="8357615" y="292608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Quattrocento Sans"/>
              <a:buNone/>
            </a:pPr>
            <a:r>
              <a:rPr b="0" i="0" lang="en-US" sz="14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 borrower wallet</a:t>
            </a:r>
            <a:endParaRPr/>
          </a:p>
        </p:txBody>
      </p:sp>
      <p:sp>
        <p:nvSpPr>
          <p:cNvPr id="431" name="Google Shape;431;p9"/>
          <p:cNvSpPr/>
          <p:nvPr/>
        </p:nvSpPr>
        <p:spPr>
          <a:xfrm>
            <a:off x="10680192" y="2898648"/>
            <a:ext cx="731520" cy="27432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95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32" name="Google Shape;432;p9"/>
          <p:cNvSpPr/>
          <p:nvPr/>
        </p:nvSpPr>
        <p:spPr>
          <a:xfrm>
            <a:off x="10680192" y="289864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Quattrocento Sans"/>
              <a:buNone/>
            </a:pPr>
            <a:r>
              <a:rPr b="0" i="0" lang="en-US" sz="11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SAVED</a:t>
            </a:r>
            <a:endParaRPr/>
          </a:p>
        </p:txBody>
      </p:sp>
      <p:sp>
        <p:nvSpPr>
          <p:cNvPr id="433" name="Google Shape;433;p9"/>
          <p:cNvSpPr/>
          <p:nvPr/>
        </p:nvSpPr>
        <p:spPr>
          <a:xfrm>
            <a:off x="8357615" y="361188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Quattrocento Sans"/>
              <a:buNone/>
            </a:pPr>
            <a:r>
              <a:rPr b="0" i="0" lang="en-US" sz="12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Leverage</a:t>
            </a:r>
            <a:endParaRPr/>
          </a:p>
        </p:txBody>
      </p:sp>
      <p:sp>
        <p:nvSpPr>
          <p:cNvPr id="434" name="Google Shape;434;p9"/>
          <p:cNvSpPr/>
          <p:nvPr/>
        </p:nvSpPr>
        <p:spPr>
          <a:xfrm>
            <a:off x="9884663" y="3611880"/>
            <a:ext cx="14996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Quattrocento Sans"/>
              <a:buNone/>
            </a:pPr>
            <a:r>
              <a:rPr b="0" i="0" lang="en-US" sz="14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7.6×</a:t>
            </a:r>
            <a:endParaRPr/>
          </a:p>
        </p:txBody>
      </p:sp>
      <p:sp>
        <p:nvSpPr>
          <p:cNvPr id="435" name="Google Shape;435;p9"/>
          <p:cNvSpPr/>
          <p:nvPr/>
        </p:nvSpPr>
        <p:spPr>
          <a:xfrm>
            <a:off x="8357615" y="3995928"/>
            <a:ext cx="30266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36" name="Google Shape;436;p9"/>
          <p:cNvSpPr/>
          <p:nvPr/>
        </p:nvSpPr>
        <p:spPr>
          <a:xfrm>
            <a:off x="8357615" y="406908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Quattrocento Sans"/>
              <a:buNone/>
            </a:pPr>
            <a:r>
              <a:rPr b="0" i="0" lang="en-US" sz="12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Health factor</a:t>
            </a:r>
            <a:endParaRPr/>
          </a:p>
        </p:txBody>
      </p:sp>
      <p:sp>
        <p:nvSpPr>
          <p:cNvPr id="437" name="Google Shape;437;p9"/>
          <p:cNvSpPr/>
          <p:nvPr/>
        </p:nvSpPr>
        <p:spPr>
          <a:xfrm>
            <a:off x="9884663" y="4069080"/>
            <a:ext cx="14996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Quattrocento Sans"/>
              <a:buNone/>
            </a:pPr>
            <a:r>
              <a:rPr b="0" i="0" lang="en-US" sz="14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1.054</a:t>
            </a:r>
            <a:endParaRPr/>
          </a:p>
        </p:txBody>
      </p:sp>
      <p:sp>
        <p:nvSpPr>
          <p:cNvPr id="438" name="Google Shape;438;p9"/>
          <p:cNvSpPr/>
          <p:nvPr/>
        </p:nvSpPr>
        <p:spPr>
          <a:xfrm>
            <a:off x="8357615" y="4453128"/>
            <a:ext cx="30266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39" name="Google Shape;439;p9"/>
          <p:cNvSpPr/>
          <p:nvPr/>
        </p:nvSpPr>
        <p:spPr>
          <a:xfrm>
            <a:off x="8357615" y="452628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Quattrocento Sans"/>
              <a:buNone/>
            </a:pPr>
            <a:r>
              <a:rPr b="0" i="0" lang="en-US" sz="12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Morpho’s own</a:t>
            </a:r>
            <a:endParaRPr/>
          </a:p>
        </p:txBody>
      </p:sp>
      <p:sp>
        <p:nvSpPr>
          <p:cNvPr id="440" name="Google Shape;440;p9"/>
          <p:cNvSpPr/>
          <p:nvPr/>
        </p:nvSpPr>
        <p:spPr>
          <a:xfrm>
            <a:off x="9884663" y="4526280"/>
            <a:ext cx="14996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Quattrocento Sans"/>
              <a:buNone/>
            </a:pPr>
            <a:r>
              <a:rPr b="0" i="0" lang="en-US" sz="14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1.053</a:t>
            </a:r>
            <a:endParaRPr/>
          </a:p>
        </p:txBody>
      </p:sp>
      <p:sp>
        <p:nvSpPr>
          <p:cNvPr id="441" name="Google Shape;441;p9"/>
          <p:cNvSpPr/>
          <p:nvPr/>
        </p:nvSpPr>
        <p:spPr>
          <a:xfrm>
            <a:off x="8357615" y="4910328"/>
            <a:ext cx="30266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42" name="Google Shape;442;p9"/>
          <p:cNvSpPr/>
          <p:nvPr/>
        </p:nvSpPr>
        <p:spPr>
          <a:xfrm>
            <a:off x="8357615" y="5074920"/>
            <a:ext cx="3063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Quattrocento Sans"/>
              <a:buNone/>
            </a:pPr>
            <a:r>
              <a:rPr b="0" i="0" lang="en-US" sz="120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Snapshot: ~2.1% liquidation probability over 30 days; ~0.27% expected equity penalty.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0"/>
          <p:cNvSpPr/>
          <p:nvPr/>
        </p:nvSpPr>
        <p:spPr>
          <a:xfrm>
            <a:off x="548640" y="566928"/>
            <a:ext cx="292608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49" name="Google Shape;449;p10"/>
          <p:cNvSpPr/>
          <p:nvPr/>
        </p:nvSpPr>
        <p:spPr>
          <a:xfrm>
            <a:off x="932688" y="4754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50"/>
              <a:buFont typeface="Quattrocento Sans"/>
              <a:buNone/>
            </a:pPr>
            <a:r>
              <a:rPr b="0" i="0" lang="en-US" spc="150" sz="105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AGAINST THE JUDGING CRITERIA</a:t>
            </a:r>
            <a:endParaRPr/>
          </a:p>
        </p:txBody>
      </p:sp>
      <p:sp>
        <p:nvSpPr>
          <p:cNvPr id="450" name="Google Shape;450;p10"/>
          <p:cNvSpPr/>
          <p:nvPr/>
        </p:nvSpPr>
        <p:spPr>
          <a:xfrm>
            <a:off x="548640" y="786384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Quattrocento Sans"/>
              <a:buNone/>
            </a:pPr>
            <a:r>
              <a:rPr b="0" i="0" lang="en-US" sz="28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the answer is defensible</a:t>
            </a:r>
            <a:endParaRPr/>
          </a:p>
        </p:txBody>
      </p:sp>
      <p:sp>
        <p:nvSpPr>
          <p:cNvPr id="451" name="Google Shape;451;p10"/>
          <p:cNvSpPr/>
          <p:nvPr/>
        </p:nvSpPr>
        <p:spPr>
          <a:xfrm>
            <a:off x="548640" y="6382512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52" name="Google Shape;452;p10"/>
          <p:cNvSpPr/>
          <p:nvPr/>
        </p:nvSpPr>
        <p:spPr>
          <a:xfrm>
            <a:off x="548640" y="6455664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0" i="0" lang="en-US" sz="9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Belem Capital  ·  DeFi Risk Dependency Challenge  ·  EPFL 2026</a:t>
            </a:r>
            <a:endParaRPr/>
          </a:p>
        </p:txBody>
      </p:sp>
      <p:sp>
        <p:nvSpPr>
          <p:cNvPr id="453" name="Google Shape;453;p10"/>
          <p:cNvSpPr/>
          <p:nvPr/>
        </p:nvSpPr>
        <p:spPr>
          <a:xfrm>
            <a:off x="10725912" y="645566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0" i="0" lang="en-US" sz="9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 / 10</a:t>
            </a:r>
            <a:endParaRPr/>
          </a:p>
        </p:txBody>
      </p:sp>
      <p:sp>
        <p:nvSpPr>
          <p:cNvPr id="454" name="Google Shape;454;p10"/>
          <p:cNvSpPr/>
          <p:nvPr/>
        </p:nvSpPr>
        <p:spPr>
          <a:xfrm>
            <a:off x="548640" y="1691640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3000"/>
              <a:buFont typeface="Quattrocento Sans"/>
              <a:buNone/>
            </a:pPr>
            <a:r>
              <a:rPr b="0" i="0" lang="en-US" sz="30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30%</a:t>
            </a:r>
            <a:endParaRPr/>
          </a:p>
        </p:txBody>
      </p:sp>
      <p:sp>
        <p:nvSpPr>
          <p:cNvPr id="455" name="Google Shape;455;p10"/>
          <p:cNvSpPr/>
          <p:nvPr/>
        </p:nvSpPr>
        <p:spPr>
          <a:xfrm>
            <a:off x="548640" y="233172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Quattrocento Sans"/>
              <a:buNone/>
            </a:pPr>
            <a:r>
              <a:rPr b="0" i="0" lang="en-US" sz="14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Dependency discovery</a:t>
            </a:r>
            <a:endParaRPr/>
          </a:p>
        </p:txBody>
      </p:sp>
      <p:sp>
        <p:nvSpPr>
          <p:cNvPr id="456" name="Google Shape;456;p10"/>
          <p:cNvSpPr/>
          <p:nvPr/>
        </p:nvSpPr>
        <p:spPr>
          <a:xfrm>
            <a:off x="548640" y="2743200"/>
            <a:ext cx="2606040" cy="15875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57" name="Google Shape;457;p10"/>
          <p:cNvSpPr/>
          <p:nvPr/>
        </p:nvSpPr>
        <p:spPr>
          <a:xfrm>
            <a:off x="548640" y="2926080"/>
            <a:ext cx="26060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dependency discovery with evidence for supported relationships.</a:t>
            </a:r>
            <a:endParaRPr/>
          </a:p>
        </p:txBody>
      </p:sp>
      <p:sp>
        <p:nvSpPr>
          <p:cNvPr id="458" name="Google Shape;458;p10"/>
          <p:cNvSpPr/>
          <p:nvPr/>
        </p:nvSpPr>
        <p:spPr>
          <a:xfrm>
            <a:off x="3383280" y="1691640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3000"/>
              <a:buFont typeface="Quattrocento Sans"/>
              <a:buNone/>
            </a:pPr>
            <a:r>
              <a:rPr b="0" i="0" lang="en-US" sz="30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30%</a:t>
            </a:r>
            <a:endParaRPr/>
          </a:p>
        </p:txBody>
      </p:sp>
      <p:sp>
        <p:nvSpPr>
          <p:cNvPr id="459" name="Google Shape;459;p10"/>
          <p:cNvSpPr/>
          <p:nvPr/>
        </p:nvSpPr>
        <p:spPr>
          <a:xfrm>
            <a:off x="3383280" y="233172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Quattrocento Sans"/>
              <a:buNone/>
            </a:pPr>
            <a:r>
              <a:rPr b="0" i="0" lang="en-US" sz="14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Impact estimation</a:t>
            </a:r>
            <a:endParaRPr/>
          </a:p>
        </p:txBody>
      </p:sp>
      <p:sp>
        <p:nvSpPr>
          <p:cNvPr id="460" name="Google Shape;460;p10"/>
          <p:cNvSpPr/>
          <p:nvPr/>
        </p:nvSpPr>
        <p:spPr>
          <a:xfrm>
            <a:off x="3383280" y="2743200"/>
            <a:ext cx="2606040" cy="15875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61" name="Google Shape;461;p10"/>
          <p:cNvSpPr/>
          <p:nvPr/>
        </p:nvSpPr>
        <p:spPr>
          <a:xfrm>
            <a:off x="3383280" y="2926080"/>
            <a:ext cx="26060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Lender and borrower loss models, oracle effects and forced selling.</a:t>
            </a:r>
            <a:endParaRPr/>
          </a:p>
        </p:txBody>
      </p:sp>
      <p:sp>
        <p:nvSpPr>
          <p:cNvPr id="462" name="Google Shape;462;p10"/>
          <p:cNvSpPr/>
          <p:nvPr/>
        </p:nvSpPr>
        <p:spPr>
          <a:xfrm>
            <a:off x="6217920" y="1691640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3000"/>
              <a:buFont typeface="Quattrocento Sans"/>
              <a:buNone/>
            </a:pPr>
            <a:r>
              <a:rPr b="0" i="0" lang="en-US" sz="30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25%</a:t>
            </a:r>
            <a:endParaRPr/>
          </a:p>
        </p:txBody>
      </p:sp>
      <p:sp>
        <p:nvSpPr>
          <p:cNvPr id="463" name="Google Shape;463;p10"/>
          <p:cNvSpPr/>
          <p:nvPr/>
        </p:nvSpPr>
        <p:spPr>
          <a:xfrm>
            <a:off x="6217920" y="233172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Quattrocento Sans"/>
              <a:buNone/>
            </a:pPr>
            <a:r>
              <a:rPr b="0" i="0" lang="en-US" sz="14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Decision usefulness</a:t>
            </a:r>
            <a:endParaRPr/>
          </a:p>
        </p:txBody>
      </p:sp>
      <p:sp>
        <p:nvSpPr>
          <p:cNvPr id="464" name="Google Shape;464;p10"/>
          <p:cNvSpPr/>
          <p:nvPr/>
        </p:nvSpPr>
        <p:spPr>
          <a:xfrm>
            <a:off x="6217920" y="2743200"/>
            <a:ext cx="2606040" cy="15875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65" name="Google Shape;465;p10"/>
          <p:cNvSpPr/>
          <p:nvPr/>
        </p:nvSpPr>
        <p:spPr>
          <a:xfrm>
            <a:off x="6217920" y="2926080"/>
            <a:ext cx="26060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STAY, EXIT or REVIEW with yield, costs, break-even and execution constraints.</a:t>
            </a:r>
            <a:endParaRPr/>
          </a:p>
        </p:txBody>
      </p:sp>
      <p:sp>
        <p:nvSpPr>
          <p:cNvPr id="466" name="Google Shape;466;p10"/>
          <p:cNvSpPr/>
          <p:nvPr/>
        </p:nvSpPr>
        <p:spPr>
          <a:xfrm>
            <a:off x="9052560" y="1691640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3000"/>
              <a:buFont typeface="Quattrocento Sans"/>
              <a:buNone/>
            </a:pPr>
            <a:r>
              <a:rPr b="0" i="0" lang="en-US" sz="30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15%</a:t>
            </a:r>
            <a:endParaRPr/>
          </a:p>
        </p:txBody>
      </p:sp>
      <p:sp>
        <p:nvSpPr>
          <p:cNvPr id="467" name="Google Shape;467;p10"/>
          <p:cNvSpPr/>
          <p:nvPr/>
        </p:nvSpPr>
        <p:spPr>
          <a:xfrm>
            <a:off x="9052560" y="233172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Quattrocento Sans"/>
              <a:buNone/>
            </a:pPr>
            <a:r>
              <a:rPr b="0" i="0" lang="en-US" sz="14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demo</a:t>
            </a:r>
            <a:endParaRPr/>
          </a:p>
        </p:txBody>
      </p:sp>
      <p:sp>
        <p:nvSpPr>
          <p:cNvPr id="468" name="Google Shape;468;p10"/>
          <p:cNvSpPr/>
          <p:nvPr/>
        </p:nvSpPr>
        <p:spPr>
          <a:xfrm>
            <a:off x="9052560" y="2743200"/>
            <a:ext cx="2606040" cy="15875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69" name="Google Shape;469;p10"/>
          <p:cNvSpPr/>
          <p:nvPr/>
        </p:nvSpPr>
        <p:spPr>
          <a:xfrm>
            <a:off x="9052560" y="2926080"/>
            <a:ext cx="26060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Quattrocento Sans"/>
              <a:buNone/>
            </a:pPr>
            <a:r>
              <a:rPr b="0" i="0" lang="en-US" sz="125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 markets and wallets, live quotes, monitoring history and calibration reports.</a:t>
            </a:r>
            <a:endParaRPr/>
          </a:p>
        </p:txBody>
      </p:sp>
      <p:sp>
        <p:nvSpPr>
          <p:cNvPr id="470" name="Google Shape;470;p10"/>
          <p:cNvSpPr/>
          <p:nvPr/>
        </p:nvSpPr>
        <p:spPr>
          <a:xfrm>
            <a:off x="548640" y="4892040"/>
            <a:ext cx="11091672" cy="1234440"/>
          </a:xfrm>
          <a:prstGeom prst="roundRect">
            <a:avLst>
              <a:gd fmla="val 6000" name="adj"/>
            </a:avLst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71" name="Google Shape;471;p10"/>
          <p:cNvSpPr/>
          <p:nvPr/>
        </p:nvSpPr>
        <p:spPr>
          <a:xfrm>
            <a:off x="822960" y="5029200"/>
            <a:ext cx="5120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Quattrocento Sans"/>
              <a:buNone/>
            </a:pPr>
            <a:r>
              <a:rPr b="0" i="0" lang="en-US" spc="120" sz="10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DATA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Quattrocento Sans"/>
              <a:buNone/>
            </a:pPr>
            <a:r>
              <a:rPr b="0" i="0" lang="en-US" sz="115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Graph, market parameters, liquidity, quotes, rates and oracle readings.</a:t>
            </a:r>
            <a:endParaRPr/>
          </a:p>
        </p:txBody>
      </p:sp>
      <p:sp>
        <p:nvSpPr>
          <p:cNvPr id="472" name="Google Shape;472;p10"/>
          <p:cNvSpPr/>
          <p:nvPr/>
        </p:nvSpPr>
        <p:spPr>
          <a:xfrm>
            <a:off x="6099048" y="5074920"/>
            <a:ext cx="9525" cy="86868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73" name="Google Shape;473;p10"/>
          <p:cNvSpPr/>
          <p:nvPr/>
        </p:nvSpPr>
        <p:spPr>
          <a:xfrm>
            <a:off x="6355080" y="5029200"/>
            <a:ext cx="5120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000"/>
              <a:buFont typeface="Quattrocento Sans"/>
              <a:buNone/>
            </a:pPr>
            <a:r>
              <a:rPr b="0" i="0" lang="en-US" spc="120" sz="1000">
                <a:solidFill>
                  <a:srgbClr val="B4530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STATED JUDGEMENT CALLS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Quattrocento Sans"/>
              <a:buNone/>
            </a:pPr>
            <a:r>
              <a:rPr b="0" i="0" lang="en-US" sz="115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Priors, alert multipliers, contagion and liquidation behavior require empirical validation.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h1d83c4e7f8546bee_0_0"/>
          <p:cNvSpPr txBox="1"/>
          <p:nvPr/>
        </p:nvSpPr>
        <p:spPr>
          <a:xfrm>
            <a:off x="4224738" y="2782500"/>
            <a:ext cx="3742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Doomberg.</a:t>
            </a:r>
            <a:endParaRPr sz="7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